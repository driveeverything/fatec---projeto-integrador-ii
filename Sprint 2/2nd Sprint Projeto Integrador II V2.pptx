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71178" r:id="rId5"/>
    <p:sldId id="2147471179" r:id="rId6"/>
    <p:sldId id="2147471156" r:id="rId7"/>
    <p:sldId id="2147471173" r:id="rId8"/>
    <p:sldId id="2147471164" r:id="rId9"/>
    <p:sldId id="2147471186" r:id="rId10"/>
    <p:sldId id="2147471162" r:id="rId11"/>
    <p:sldId id="2147471167" r:id="rId12"/>
    <p:sldId id="2147471168" r:id="rId13"/>
    <p:sldId id="2147471187" r:id="rId14"/>
    <p:sldId id="2147471180" r:id="rId15"/>
    <p:sldId id="2147471165" r:id="rId16"/>
    <p:sldId id="2147471185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8C4"/>
    <a:srgbClr val="FFE4C1"/>
    <a:srgbClr val="FEEBCE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804C-C841-F63F-EF9C-2D9822D29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F6D4D-675E-A7E7-BDC6-1B9AA0DB3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E944-8A01-E41F-6F75-54A60A0F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0EDC-2BAE-C954-5B49-59470487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4623-4735-822A-8F18-7AB13F24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03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67F0-97B6-4898-1464-EA6D06DA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71A3-FBAA-0C71-30EF-C4C3E173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8FBE3-8886-056A-CEA2-3B982DFB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3C0C-F52E-BE24-4A52-DECAEFDA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F6E4C-CD78-12A3-4EBE-974AD95E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28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0098-F150-419A-A9BC-1EE2D261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C16AB-E376-897E-2C52-BE550EF00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1FC71-64BC-F172-8AD4-BD987727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CC6BA-5773-1B7F-16CE-FF650886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EE54-D726-42B6-D5E5-2C3CE711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94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F846-2F6A-744F-C918-4917FC4C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DDA83-FA02-B316-386E-56F833394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55A66-8D0B-630E-20D2-1B5AE8E1E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483B9-A8BF-A4A6-AADD-40633E1B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B37AD-9875-6D91-41B1-8D727043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F534F-6DDA-54E0-0E08-DF759D2A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98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E74E-2150-50EE-B6ED-D1299E6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459A8-52A3-B7D3-1198-F2643D6AC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8441E-0D60-0601-83D3-87FE70A61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58987-0357-7CFE-B623-A47635D7D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4B78B-D078-5238-80D0-B789567B1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B6AC4-1B5E-E3A1-C60C-AA5BC952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1C5C5-6977-4577-D5C5-9EE92B18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43670-CA73-9D7B-9113-E81AE033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37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252B-98E1-7087-B344-6A38D86D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864BB-DC36-E4AC-B1FC-D0C8F6A2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66BBF-0928-4374-620E-8BFEFFAB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D3C37-7172-77E1-F696-20197EE6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08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75BA1-AFED-96B0-7CA0-898C67A6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0919E-04B3-10BD-5A4C-A73AD9D1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E1FBF-BFF7-212B-DA76-2B2A2549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603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1075-D163-3EE4-B161-258DEBFB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32FB-A51D-DF66-7C51-DDCCFA9E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9AB59-B641-D3EC-29D5-B7871F5E1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51CC6-5465-6E80-1CE8-862753C8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E4E7-2E7F-1D99-0C56-7CED5E44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5DDF2-15B4-3C53-645F-201F3DAA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56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1610-D8BE-4877-12C9-B496F4C8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19008-EC03-AD15-F71B-5241856BC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47B67-E286-0A94-D5ED-CBEC3A4E0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A531A-7D3A-CD92-40A8-5162542F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ED5FE-359C-0EAE-36C6-58177F83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6E3CF-3717-AD65-E174-187608C1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91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5EDF-2119-F798-A03C-50B2AEF2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31E18-E903-75D7-AA58-E5A8D8062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C66C-06C2-E604-27F9-DACD7967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9167B-CC90-563D-1BFC-6F80D99D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C286-F1DB-308D-CAD9-B6BA8A18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19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33EC9-43AC-C49C-F581-D836E79C7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A66BB-384C-B1FC-2D54-C90FB9878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723A2-21F1-B3BF-EBCA-3CD3D310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3832-EF08-7839-B54F-73B1DDA0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CCF3-348B-A0FB-1897-53BA7299E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998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9608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FFB70-60B5-3946-7116-14D84326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9E5CC-74BF-9813-F0F7-130A0F6B0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1B58-A81C-14C0-BBEE-454AD11CB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92EF-C2C2-4FE7-B0CC-B56D04CC503C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01C3-5120-A0B1-3A39-21E843BCB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DCA61-C6CE-4C8F-CC70-60D1DCD5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27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952357"/>
            <a:ext cx="11416392" cy="46115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Cliente: Aernnova – Fábio Elizeu</a:t>
            </a:r>
          </a:p>
          <a:p>
            <a:pPr algn="ctr">
              <a:lnSpc>
                <a:spcPct val="150000"/>
              </a:lnSpc>
            </a:pPr>
            <a:endParaRPr lang="pt-BR" sz="2200" b="1" dirty="0"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/>
                <a:cs typeface="Arial"/>
              </a:rPr>
              <a:t>Equipe: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Franciel Izidoro da Costa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Gabriel Donizetti Jesus Campos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Gustavo Evangelista Rodrigues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Raphael Nunes Silva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Robson Rodolfo Azevedo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Tainan de Souza Ferreira dos Santos</a:t>
            </a:r>
            <a:endParaRPr lang="pt-BR" sz="2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07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4BD2F64-7D0D-4D64-BD72-67E10C86D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533128"/>
              </p:ext>
            </p:extLst>
          </p:nvPr>
        </p:nvGraphicFramePr>
        <p:xfrm>
          <a:off x="509965" y="2180203"/>
          <a:ext cx="11172070" cy="2497594"/>
        </p:xfrm>
        <a:graphic>
          <a:graphicData uri="http://schemas.openxmlformats.org/drawingml/2006/table">
            <a:tbl>
              <a:tblPr bandRow="1"/>
              <a:tblGrid>
                <a:gridCol w="1731072">
                  <a:extLst>
                    <a:ext uri="{9D8B030D-6E8A-4147-A177-3AD203B41FA5}">
                      <a16:colId xmlns:a16="http://schemas.microsoft.com/office/drawing/2014/main" val="700026619"/>
                    </a:ext>
                  </a:extLst>
                </a:gridCol>
                <a:gridCol w="852220">
                  <a:extLst>
                    <a:ext uri="{9D8B030D-6E8A-4147-A177-3AD203B41FA5}">
                      <a16:colId xmlns:a16="http://schemas.microsoft.com/office/drawing/2014/main" val="1764575356"/>
                    </a:ext>
                  </a:extLst>
                </a:gridCol>
                <a:gridCol w="1491385">
                  <a:extLst>
                    <a:ext uri="{9D8B030D-6E8A-4147-A177-3AD203B41FA5}">
                      <a16:colId xmlns:a16="http://schemas.microsoft.com/office/drawing/2014/main" val="1906018175"/>
                    </a:ext>
                  </a:extLst>
                </a:gridCol>
                <a:gridCol w="7097393">
                  <a:extLst>
                    <a:ext uri="{9D8B030D-6E8A-4147-A177-3AD203B41FA5}">
                      <a16:colId xmlns:a16="http://schemas.microsoft.com/office/drawing/2014/main" val="2609960755"/>
                    </a:ext>
                  </a:extLst>
                </a:gridCol>
              </a:tblGrid>
              <a:tr h="305902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Matriz de responsabilidades</a:t>
                      </a:r>
                    </a:p>
                  </a:txBody>
                  <a:tcPr marL="127681" marR="127681" marT="63840" marB="6384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006051"/>
                  </a:ext>
                </a:extLst>
              </a:tr>
              <a:tr h="305902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Nome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Entrega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Função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Responsabilidade Principal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97952"/>
                  </a:ext>
                </a:extLst>
              </a:tr>
              <a:tr h="305902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Franciel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2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Scrum Master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Escolha do painel de ferramentas e adaptação para uso de portas de acrílico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04371"/>
                  </a:ext>
                </a:extLst>
              </a:tr>
              <a:tr h="305902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Gabriel Donizetti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4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Scrum Team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Plano de execução e levantamento de custos do projeto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083892"/>
                  </a:ext>
                </a:extLst>
              </a:tr>
              <a:tr h="305902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Gustavo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3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Scrum Team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Sistema de controle de acesso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083062"/>
                  </a:ext>
                </a:extLst>
              </a:tr>
              <a:tr h="305902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Raphael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6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Scrum Team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Desenho, esboço e cotas preliminares do painel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502489"/>
                  </a:ext>
                </a:extLst>
              </a:tr>
              <a:tr h="305902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Robson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1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Product Owner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Comunicação com o cliente e alinhamento de ideias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086984"/>
                  </a:ext>
                </a:extLst>
              </a:tr>
              <a:tr h="305902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Tainan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5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Scrum Team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Definição do painel de ferramentas e ferramental</a:t>
                      </a:r>
                    </a:p>
                  </a:txBody>
                  <a:tcPr marL="13300" marR="13300" marT="133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475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17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BEC99-5C62-4578-B83D-CED6B1C4FCEB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381407-2E89-446F-9A6D-AA9CC3B54AEB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1000" y="639536"/>
            <a:ext cx="11416392" cy="49175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200" b="1" u="sng" dirty="0">
                <a:latin typeface="Arial"/>
                <a:cs typeface="Arial"/>
              </a:rPr>
              <a:t>Problema proposto: 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Pontos de vista</a:t>
            </a:r>
            <a:endParaRPr lang="pt-BR" sz="2100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Operador: </a:t>
            </a:r>
            <a:r>
              <a:rPr lang="pt-BR" sz="2200" dirty="0">
                <a:latin typeface="Arial"/>
                <a:cs typeface="Arial"/>
              </a:rPr>
              <a:t>Melhor visualização e organização das ferramentas, otimização de tempo.</a:t>
            </a: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Supervisor</a:t>
            </a:r>
            <a:r>
              <a:rPr lang="pt-BR" sz="2200" dirty="0">
                <a:latin typeface="Arial"/>
                <a:cs typeface="Arial"/>
              </a:rPr>
              <a:t>: Melhor rastreabilidade da ferramenta, promovendo responsabilidade.</a:t>
            </a:r>
          </a:p>
          <a:p>
            <a:pPr algn="ctr">
              <a:lnSpc>
                <a:spcPct val="150000"/>
              </a:lnSpc>
            </a:pPr>
            <a:r>
              <a:rPr lang="pt-BR" sz="2200" b="1" dirty="0">
                <a:latin typeface="Arial"/>
                <a:cs typeface="Arial"/>
              </a:rPr>
              <a:t>Empresa:</a:t>
            </a:r>
            <a:r>
              <a:rPr lang="pt-BR" sz="2200" dirty="0">
                <a:latin typeface="Arial"/>
                <a:cs typeface="Arial"/>
              </a:rPr>
              <a:t> Redução de extravios de ferramentas, otimização de tempo e custo. </a:t>
            </a:r>
          </a:p>
          <a:p>
            <a:pPr algn="ctr">
              <a:lnSpc>
                <a:spcPct val="150000"/>
              </a:lnSpc>
            </a:pPr>
            <a:endParaRPr lang="pt-BR" sz="2000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Objetivo</a:t>
            </a:r>
            <a:r>
              <a:rPr lang="pt-BR" sz="2000" dirty="0">
                <a:latin typeface="Arial"/>
                <a:cs typeface="Arial"/>
              </a:rPr>
              <a:t>: </a:t>
            </a:r>
          </a:p>
          <a:p>
            <a:pPr algn="ctr">
              <a:lnSpc>
                <a:spcPct val="150000"/>
              </a:lnSpc>
            </a:pPr>
            <a:r>
              <a:rPr lang="pt-BR" sz="2400" dirty="0">
                <a:latin typeface="Arial"/>
                <a:cs typeface="Arial"/>
              </a:rPr>
              <a:t>Melhorar o controle e a organização de ferramentas, tornando mais rápido, prático e seguro a utilização e armazenamento da ferramenta.</a:t>
            </a:r>
          </a:p>
        </p:txBody>
      </p:sp>
    </p:spTree>
    <p:extLst>
      <p:ext uri="{BB962C8B-B14F-4D97-AF65-F5344CB8AC3E}">
        <p14:creationId xmlns:p14="http://schemas.microsoft.com/office/powerpoint/2010/main" val="186962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BEC99-5C62-4578-B83D-CED6B1C4FCEB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1040958"/>
            <a:ext cx="11416392" cy="45101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 sz="1600" dirty="0">
              <a:latin typeface="Arial"/>
              <a:cs typeface="Arial"/>
            </a:endParaRPr>
          </a:p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Descrição da melhoria 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Será desenvolvido um modelo de armazenamento em formato de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painel fixo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proporcionando maior organização, transparência e monitoramento.</a:t>
            </a: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Principais características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Quadro visível e acessível.</a:t>
            </a:r>
          </a:p>
          <a:p>
            <a:pPr algn="ctr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Porta em acrílico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proporciona visualização imediata.</a:t>
            </a:r>
          </a:p>
          <a:p>
            <a:pPr algn="ctr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Esquema de cores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para identificação rápida.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Setorização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de ferramentas.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Localização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estratégica.</a:t>
            </a:r>
            <a:endParaRPr lang="pt-BR" dirty="0">
              <a:cs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7F1565-40B6-43DA-BEF4-55C120776AAC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38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1566952"/>
            <a:ext cx="11416392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Restrições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Normas de segurança e ergonomia.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Painel fixo e de uso coletivo, restrito a baia de trabalho.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Requer conexão com a internet.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Premissas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espaço físico é suficiente para os painéis.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cliente (Aernnova) participará das validações em cada Sprint, fornecendo feedback.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5D632B-D485-436C-95A2-0D4CB53D1017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4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1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Robson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1136064"/>
            <a:ext cx="11416392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Riscos: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Resistência dos mecânicos à mudança.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Maior exposição das ferramentas ao ambiente.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Possíveis danos, se for usado de maneira incorreta.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Oportunidades: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Padronização da gestão de ferramentas em toda a empresa.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Redução de extravios e perdas, gerando economia.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Possível redução do tempo de busca por ferramentas.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Potencial de expansão da solução para outras áreas ou unidades da empresa.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Fortalecimento da disciplina operacional e da responsabilidade individual.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Geração de relatórios de acesso ao painel.</a:t>
            </a:r>
            <a:endParaRPr lang="pt-BR" sz="2000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5D632B-D485-436C-95A2-0D4CB53D1017}"/>
              </a:ext>
            </a:extLst>
          </p:cNvPr>
          <p:cNvSpPr txBox="1"/>
          <p:nvPr/>
        </p:nvSpPr>
        <p:spPr>
          <a:xfrm>
            <a:off x="1608667" y="92333"/>
            <a:ext cx="86694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XPTO1:</a:t>
            </a:r>
            <a:r>
              <a:rPr lang="pt-BR" sz="14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Comunicação com o cliente e alinhamento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ideias </a:t>
            </a:r>
            <a:endParaRPr lang="pt-BR" sz="1400" dirty="0" err="1">
              <a:solidFill>
                <a:srgbClr val="0070C0"/>
              </a:solidFill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7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BC18-229C-836E-7D4F-A19C07C4C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87D434-4597-E5A2-025A-B2AF158FF66F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50E4C-AAF2-3CE5-E933-FD3FB96A1FF8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4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D51CE5-721C-E9ED-FAA5-D18089A06F64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Gabriel Donizetti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9A3540-823E-8912-4A63-C9316EAB0F0B}"/>
              </a:ext>
            </a:extLst>
          </p:cNvPr>
          <p:cNvSpPr txBox="1"/>
          <p:nvPr/>
        </p:nvSpPr>
        <p:spPr>
          <a:xfrm>
            <a:off x="1608665" y="78308"/>
            <a:ext cx="866943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XPTO4: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Plano de execução e levantamento de custos do projeto</a:t>
            </a:r>
          </a:p>
          <a:p>
            <a:pPr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BFEC33-6FB2-47B8-8BAE-B9F79C367583}"/>
              </a:ext>
            </a:extLst>
          </p:cNvPr>
          <p:cNvSpPr txBox="1"/>
          <p:nvPr/>
        </p:nvSpPr>
        <p:spPr>
          <a:xfrm>
            <a:off x="530461" y="1062775"/>
            <a:ext cx="10825843" cy="47324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Plano de execução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1ª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Foi proposto 3 alternativas para melhorar o controle de ferramentas com vantagens e desvantagens.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2º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Desenvolver o projeto, seguindo o método selecionado, detalhando desenho técnico e tabela de custos.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,Sans-Serif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3º Sprint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: Ajustes finais do projeto de acordo com o </a:t>
            </a:r>
            <a:r>
              <a:rPr lang="pt-BR" sz="2000" i="1" dirty="0">
                <a:latin typeface="Arial" panose="020B0604020202020204" pitchFamily="34" charset="0"/>
                <a:cs typeface="Arial" panose="020B0604020202020204" pitchFamily="34" charset="0"/>
              </a:rPr>
              <a:t>feedback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do cliente.</a:t>
            </a:r>
          </a:p>
          <a:p>
            <a:pPr algn="just">
              <a:lnSpc>
                <a:spcPct val="114000"/>
              </a:lnSpc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Marcos/Entregáveis Principais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1: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Definição da modificação do carrinho por um painel com 3 alternativas de solução para o controle das ferramentas com vantagens e desvantagens.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2: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Entrega de desenho técnico do painel e método de controle.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Sprint 3: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Ajustes finais e validação com o cliente.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Encerramento: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Apresentação final do projeto.</a:t>
            </a:r>
            <a:endParaRPr lang="pt-BR" b="1" dirty="0">
              <a:latin typeface="Arial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133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820D-8ED1-0C11-F2EF-F95CC4A7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089DF911-3E00-1963-3742-D4039E63C230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3033A-722F-A9BD-D364-72F12ABF759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5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B99953-B323-DC21-52E0-76AB118FE6AF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Tainan</a:t>
            </a:r>
            <a:endParaRPr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25875C6-2FC2-261C-1B2E-15E84FCB6795}"/>
              </a:ext>
            </a:extLst>
          </p:cNvPr>
          <p:cNvSpPr txBox="1"/>
          <p:nvPr/>
        </p:nvSpPr>
        <p:spPr>
          <a:xfrm>
            <a:off x="1608666" y="65216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XPTO5: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Definição do painel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/>
                <a:cs typeface="Arial"/>
              </a:rPr>
              <a:t>de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ferramentas e ferramental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4A56307-09A9-1852-2E39-433426410C89}"/>
              </a:ext>
            </a:extLst>
          </p:cNvPr>
          <p:cNvSpPr txBox="1"/>
          <p:nvPr/>
        </p:nvSpPr>
        <p:spPr>
          <a:xfrm>
            <a:off x="1174366" y="763535"/>
            <a:ext cx="95380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latin typeface="Arial"/>
                <a:cs typeface="Times New Roman"/>
              </a:rPr>
              <a:t>Painel de ferramentas, aplicado a uma empresa aeronáutica: </a:t>
            </a:r>
          </a:p>
        </p:txBody>
      </p:sp>
      <p:pic>
        <p:nvPicPr>
          <p:cNvPr id="3" name="Imagem 2" descr="Uma imagem contendo no interior, computador, edifício, teclado&#10;&#10;O conteúdo gerado por IA pode estar incorreto.">
            <a:extLst>
              <a:ext uri="{FF2B5EF4-FFF2-40B4-BE49-F238E27FC236}">
                <a16:creationId xmlns:a16="http://schemas.microsoft.com/office/drawing/2014/main" id="{9C9AF070-9DCA-70E1-E826-377FE6E4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463" y="1391581"/>
            <a:ext cx="8017221" cy="520962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D52E59E-7AC3-43E9-841B-68D81AB853BF}"/>
              </a:ext>
            </a:extLst>
          </p:cNvPr>
          <p:cNvSpPr/>
          <p:nvPr/>
        </p:nvSpPr>
        <p:spPr>
          <a:xfrm>
            <a:off x="6067425" y="4158853"/>
            <a:ext cx="250031" cy="92869"/>
          </a:xfrm>
          <a:prstGeom prst="rect">
            <a:avLst/>
          </a:prstGeom>
          <a:solidFill>
            <a:srgbClr val="E3D8C4"/>
          </a:solidFill>
          <a:ln>
            <a:solidFill>
              <a:srgbClr val="E3D8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87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0C6C-6676-2946-BD2D-9FD1BDE7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C0A179BE-B250-7BFE-5213-492FE62C2F27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E261-13A9-364E-9462-B1182BEDC5D9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6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40699E-32EB-4B43-60D0-9BF889F85F22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Raphael</a:t>
            </a:r>
            <a:endParaRPr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492C699-1FB8-DA55-EFE5-707505DC7F30}"/>
              </a:ext>
            </a:extLst>
          </p:cNvPr>
          <p:cNvSpPr txBox="1"/>
          <p:nvPr/>
        </p:nvSpPr>
        <p:spPr>
          <a:xfrm>
            <a:off x="1600266" y="56964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XPTO6: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Desenho, esboço e cotas do painel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E637A65-22CB-3FF1-814C-832C4F5C1032}"/>
              </a:ext>
            </a:extLst>
          </p:cNvPr>
          <p:cNvSpPr txBox="1"/>
          <p:nvPr/>
        </p:nvSpPr>
        <p:spPr>
          <a:xfrm>
            <a:off x="522060" y="640514"/>
            <a:ext cx="1082584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Times New Roman"/>
              </a:rPr>
              <a:t>Dimensões preliminares do painel</a:t>
            </a:r>
          </a:p>
          <a:p>
            <a:pPr algn="just"/>
            <a:endParaRPr lang="pt-BR" sz="1600" b="1" dirty="0">
              <a:latin typeface="Arial"/>
              <a:cs typeface="Times New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A119A19-2805-4D2A-8678-F47005EAC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20" y="1138446"/>
            <a:ext cx="8006321" cy="566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5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387804" y="45592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2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Franciel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7FDD1-1688-6AB7-9A41-9AD44BF9905C}"/>
              </a:ext>
            </a:extLst>
          </p:cNvPr>
          <p:cNvSpPr txBox="1"/>
          <p:nvPr/>
        </p:nvSpPr>
        <p:spPr>
          <a:xfrm>
            <a:off x="1608667" y="125347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XPTO2: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Escolha do painel de ferramentas e adaptação para uso de portas de acrílico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605999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Componentes do painel e portas</a:t>
            </a:r>
            <a:endParaRPr lang="pt-BR" sz="2400" b="1" dirty="0">
              <a:latin typeface="Arial"/>
              <a:cs typeface="Arial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84E653-4374-483D-9343-C587CCA0D53D}"/>
              </a:ext>
            </a:extLst>
          </p:cNvPr>
          <p:cNvSpPr txBox="1"/>
          <p:nvPr/>
        </p:nvSpPr>
        <p:spPr>
          <a:xfrm>
            <a:off x="387804" y="1120676"/>
            <a:ext cx="675093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Portas de acrílico.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Moldura metálica no acrílico.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Kit para portas de correr sobrepostas.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Puxadores.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Fechadura cremona.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018DBB-B071-48A8-8843-45F17B69AE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 t="9578" r="6199" b="9175"/>
          <a:stretch/>
        </p:blipFill>
        <p:spPr bwMode="auto">
          <a:xfrm>
            <a:off x="598013" y="3303450"/>
            <a:ext cx="2165685" cy="193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85BE275-9256-494E-9500-6512E4E30D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8" b="30491"/>
          <a:stretch/>
        </p:blipFill>
        <p:spPr bwMode="auto">
          <a:xfrm>
            <a:off x="3223285" y="3762150"/>
            <a:ext cx="2857500" cy="11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74617E2D-A1E0-4BBE-84A7-C3DAA3638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54" b="43158"/>
          <a:stretch/>
        </p:blipFill>
        <p:spPr bwMode="auto">
          <a:xfrm>
            <a:off x="252919" y="5582499"/>
            <a:ext cx="6858000" cy="103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16D3C2F-237D-4760-92B4-5CEF0A17D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93365">
            <a:off x="5262429" y="1573353"/>
            <a:ext cx="2809870" cy="280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inel Para Ferramentas 970 x 640 MM com 48 Ganchos 90414 PRESTO">
            <a:extLst>
              <a:ext uri="{FF2B5EF4-FFF2-40B4-BE49-F238E27FC236}">
                <a16:creationId xmlns:a16="http://schemas.microsoft.com/office/drawing/2014/main" id="{C80D5FEA-CBA8-4C38-96A0-390374A15D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13710" r="2815" b="12285"/>
          <a:stretch/>
        </p:blipFill>
        <p:spPr bwMode="auto">
          <a:xfrm flipH="1">
            <a:off x="7398443" y="1120676"/>
            <a:ext cx="4469790" cy="35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CE49195-69A7-4E42-AADE-02896EAAF3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34" t="6766" r="35775" b="6403"/>
          <a:stretch/>
        </p:blipFill>
        <p:spPr bwMode="auto">
          <a:xfrm flipH="1">
            <a:off x="7333232" y="4343702"/>
            <a:ext cx="720787" cy="225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D68804E-79A1-4786-A86D-3676BBEB0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0" t="12038" r="35201" b="11578"/>
          <a:stretch/>
        </p:blipFill>
        <p:spPr bwMode="auto">
          <a:xfrm rot="16840304">
            <a:off x="9599505" y="3794724"/>
            <a:ext cx="1075978" cy="341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09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EE92-A810-E9BA-6221-7A8B1458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85404806-6DA4-AC8F-C37A-15B7C6F001A8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13AE-C8AE-E014-DE84-527927BEF565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Helvetica Neue"/>
              </a:rPr>
              <a:t> 3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520504-6461-1EA2-1870-36C90A8CAD96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Gustavo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87FDD1-1688-6AB7-9A41-9AD44BF9905C}"/>
              </a:ext>
            </a:extLst>
          </p:cNvPr>
          <p:cNvSpPr txBox="1"/>
          <p:nvPr/>
        </p:nvSpPr>
        <p:spPr>
          <a:xfrm>
            <a:off x="1608667" y="138399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XPTO3: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 Sistema de controle de acesso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3F13FD-7723-AECC-89CD-837A0CB5D0E0}"/>
              </a:ext>
            </a:extLst>
          </p:cNvPr>
          <p:cNvSpPr txBox="1"/>
          <p:nvPr/>
        </p:nvSpPr>
        <p:spPr>
          <a:xfrm>
            <a:off x="387804" y="587332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Dispositivo</a:t>
            </a:r>
            <a:r>
              <a:rPr lang="pt-BR" sz="2400" b="1" dirty="0">
                <a:latin typeface="Arial"/>
                <a:cs typeface="Arial"/>
              </a:rPr>
              <a:t> para controle de acesso e auxílio visual por cores.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4AD070D-909B-446B-A6A2-B9C34A2F81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4" t="9657" r="12080" b="15177"/>
          <a:stretch/>
        </p:blipFill>
        <p:spPr>
          <a:xfrm>
            <a:off x="7553480" y="1143466"/>
            <a:ext cx="4454036" cy="261139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120EA79-457F-4423-87B6-D9289DDA68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4" t="9574" r="12063" b="14935"/>
          <a:stretch/>
        </p:blipFill>
        <p:spPr>
          <a:xfrm>
            <a:off x="7553480" y="3858681"/>
            <a:ext cx="4437220" cy="261139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84E653-4374-483D-9343-C587CCA0D53D}"/>
              </a:ext>
            </a:extLst>
          </p:cNvPr>
          <p:cNvSpPr txBox="1"/>
          <p:nvPr/>
        </p:nvSpPr>
        <p:spPr>
          <a:xfrm>
            <a:off x="387804" y="1088057"/>
            <a:ext cx="6750933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Controle de ferramental visual.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Controle de acesso eletrônico via aplicativo.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Identifica quem abriu e quando.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Portas de acrílico sobrepostas, moldura em metal.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4 Pilhas AA para 10 meses.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Fechadura Intelbras MFR4000.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Hub Intelbras MCA1002.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Câmera de monitoramento IM7.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Sensores de abertura.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D3C33E20-2328-4713-9B93-669BB9FE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754" y="4319711"/>
            <a:ext cx="1140148" cy="24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1FA777C0-2F32-483D-968D-967FB76C1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47" t="34558" r="34086" b="31232"/>
          <a:stretch/>
        </p:blipFill>
        <p:spPr bwMode="auto">
          <a:xfrm>
            <a:off x="0" y="4541465"/>
            <a:ext cx="2102060" cy="222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203F48A1-9D11-4F03-8EE3-D2BD9EE46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429" y="4805637"/>
            <a:ext cx="1819680" cy="192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863E20C-08AE-4530-9630-E58D0F1E6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891" y="4322404"/>
            <a:ext cx="1539744" cy="234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FB5B9F4-5864-42AD-9A39-A8B69D082F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2395" y="2827752"/>
            <a:ext cx="1427747" cy="185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7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1310-179C-9CAE-9526-095C18855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792EA8EC-6E8E-574D-4B31-A17C45AF5A45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07FF9C-01EF-9D7D-5CF9-D637F93321FC}"/>
              </a:ext>
            </a:extLst>
          </p:cNvPr>
          <p:cNvSpPr txBox="1"/>
          <p:nvPr/>
        </p:nvSpPr>
        <p:spPr>
          <a:xfrm>
            <a:off x="10269699" y="-13607"/>
            <a:ext cx="1915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Gabriel Donizetti</a:t>
            </a: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63ACC79-9933-41AA-B3B6-3A2F6B6C790F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Entrega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4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038A29-1666-4EDC-B4B1-36DA1DB0D694}"/>
              </a:ext>
            </a:extLst>
          </p:cNvPr>
          <p:cNvSpPr txBox="1"/>
          <p:nvPr/>
        </p:nvSpPr>
        <p:spPr>
          <a:xfrm>
            <a:off x="387802" y="617016"/>
            <a:ext cx="114163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 dirty="0">
                <a:latin typeface="Arial"/>
                <a:cs typeface="Arial"/>
              </a:rPr>
              <a:t>Custos</a:t>
            </a:r>
            <a:endParaRPr lang="pt-BR" sz="2400" b="1" dirty="0">
              <a:latin typeface="Arial"/>
              <a:cs typeface="Arial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8B998F-9E87-4993-9A38-F341B8B67E02}"/>
              </a:ext>
            </a:extLst>
          </p:cNvPr>
          <p:cNvSpPr txBox="1"/>
          <p:nvPr/>
        </p:nvSpPr>
        <p:spPr>
          <a:xfrm>
            <a:off x="1604467" y="135479"/>
            <a:ext cx="86694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XPTO4: </a:t>
            </a:r>
            <a:r>
              <a:rPr lang="pt-BR" sz="1600" dirty="0">
                <a:solidFill>
                  <a:srgbClr val="0070C0"/>
                </a:solidFill>
                <a:latin typeface="Aptos"/>
                <a:cs typeface="Arial"/>
              </a:rPr>
              <a:t>Plano de execução e levantamento de custos do projeto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B6B6F53-2793-414E-8B95-52D45CFE3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943000"/>
              </p:ext>
            </p:extLst>
          </p:nvPr>
        </p:nvGraphicFramePr>
        <p:xfrm>
          <a:off x="2612020" y="1283219"/>
          <a:ext cx="6967955" cy="5296554"/>
        </p:xfrm>
        <a:graphic>
          <a:graphicData uri="http://schemas.openxmlformats.org/drawingml/2006/table">
            <a:tbl>
              <a:tblPr/>
              <a:tblGrid>
                <a:gridCol w="5059646">
                  <a:extLst>
                    <a:ext uri="{9D8B030D-6E8A-4147-A177-3AD203B41FA5}">
                      <a16:colId xmlns:a16="http://schemas.microsoft.com/office/drawing/2014/main" val="3520633118"/>
                    </a:ext>
                  </a:extLst>
                </a:gridCol>
                <a:gridCol w="1908309">
                  <a:extLst>
                    <a:ext uri="{9D8B030D-6E8A-4147-A177-3AD203B41FA5}">
                      <a16:colId xmlns:a16="http://schemas.microsoft.com/office/drawing/2014/main" val="199245808"/>
                    </a:ext>
                  </a:extLst>
                </a:gridCol>
              </a:tblGrid>
              <a:tr h="40199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Custo do painel de ferramentas</a:t>
                      </a:r>
                    </a:p>
                  </a:txBody>
                  <a:tcPr marL="167790" marR="167790" marT="83895" marB="8389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759208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Estrutura do painel em aço + pintura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1.200,00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22015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Acrílico para as portas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150,00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78293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Fechadura eletrônica Intelbras MFR4000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1.350,00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33241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Hub Intelbras MCA1002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794326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Câmera de monitoramento Intelbras IM7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400,00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528948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Iluminação e elétrica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250,00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037715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Materiais para fixação e instalação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6059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Kit para porta de correr sobrepostas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140,00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760772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Puxadores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   40,00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529663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Fechadura Cremona + haste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   90,00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647909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Sensor magnético Intelbras MSA1001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   200,00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319197"/>
                  </a:ext>
                </a:extLst>
              </a:tr>
              <a:tr h="401997">
                <a:tc>
                  <a:txBody>
                    <a:bodyPr/>
                    <a:lstStyle/>
                    <a:p>
                      <a:pPr algn="r" fontAlgn="b"/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Total</a:t>
                      </a:r>
                    </a:p>
                  </a:txBody>
                  <a:tcPr marL="17478" marR="17478" marT="1747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 R$   4.270,00 </a:t>
                      </a:r>
                    </a:p>
                  </a:txBody>
                  <a:tcPr marL="17478" marR="17478" marT="1747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686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20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0063F2-D45A-F44A-644D-095F350228A1}"/>
              </a:ext>
            </a:extLst>
          </p:cNvPr>
          <p:cNvSpPr txBox="1"/>
          <p:nvPr/>
        </p:nvSpPr>
        <p:spPr>
          <a:xfrm>
            <a:off x="387804" y="952357"/>
            <a:ext cx="11416392" cy="52578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Organização e controle de ferramentas por baia de trabalho.</a:t>
            </a:r>
          </a:p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/>
                <a:cs typeface="Arial"/>
              </a:rPr>
              <a:t>Cliente: Aernnova – Fábio Elizeu</a:t>
            </a:r>
          </a:p>
          <a:p>
            <a:pPr algn="ctr">
              <a:lnSpc>
                <a:spcPct val="150000"/>
              </a:lnSpc>
            </a:pPr>
            <a:endParaRPr lang="pt-BR" sz="2200" b="1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pt-BR" sz="2800" b="1" dirty="0">
                <a:latin typeface="Arial"/>
                <a:cs typeface="Arial"/>
              </a:rPr>
              <a:t>Muito Obrigado!!!</a:t>
            </a:r>
            <a:endParaRPr lang="pt-BR" sz="2200" b="1" dirty="0">
              <a:latin typeface="Arial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/>
                <a:cs typeface="Arial"/>
              </a:rPr>
              <a:t>Equipe: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Franciel Izidoro da Costa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Gabriel Donizetti Jesus Campos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Gustavo Evangelista Rodrigues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Raphael Nunes Silva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Robson Rodolfo Azevedo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/>
                <a:cs typeface="Arial"/>
              </a:rPr>
              <a:t>Tainan de Souza Ferreira dos Santos</a:t>
            </a:r>
            <a:endParaRPr lang="pt-BR" sz="20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139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247ADB237764AAB47CDA073F4913D" ma:contentTypeVersion="13" ma:contentTypeDescription="Create a new document." ma:contentTypeScope="" ma:versionID="cdada7688793cbde7385d9e5e438fa04">
  <xsd:schema xmlns:xsd="http://www.w3.org/2001/XMLSchema" xmlns:xs="http://www.w3.org/2001/XMLSchema" xmlns:p="http://schemas.microsoft.com/office/2006/metadata/properties" xmlns:ns2="ddb99b96-edc9-4a32-93e9-1dbc100bef9b" xmlns:ns3="a48d182f-17e0-42b6-9936-b02c58680161" targetNamespace="http://schemas.microsoft.com/office/2006/metadata/properties" ma:root="true" ma:fieldsID="e57892447ddbe63629f8ab181437a144" ns2:_="" ns3:_="">
    <xsd:import namespace="ddb99b96-edc9-4a32-93e9-1dbc100bef9b"/>
    <xsd:import namespace="a48d182f-17e0-42b6-9936-b02c5868016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b99b96-edc9-4a32-93e9-1dbc100bef9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d182f-17e0-42b6-9936-b02c5868016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2345afb-524c-4dfc-8f67-61bf223aee2a}" ma:internalName="TaxCatchAll" ma:showField="CatchAllData" ma:web="a48d182f-17e0-42b6-9936-b02c58680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ddb99b96-edc9-4a32-93e9-1dbc100bef9b" xsi:nil="true"/>
    <lcf76f155ced4ddcb4097134ff3c332f xmlns="ddb99b96-edc9-4a32-93e9-1dbc100bef9b">
      <Terms xmlns="http://schemas.microsoft.com/office/infopath/2007/PartnerControls"/>
    </lcf76f155ced4ddcb4097134ff3c332f>
    <TaxCatchAll xmlns="a48d182f-17e0-42b6-9936-b02c58680161" xsi:nil="true"/>
  </documentManagement>
</p:properties>
</file>

<file path=customXml/itemProps1.xml><?xml version="1.0" encoding="utf-8"?>
<ds:datastoreItem xmlns:ds="http://schemas.openxmlformats.org/officeDocument/2006/customXml" ds:itemID="{78665074-1504-46F9-A792-7908886A1B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A60BD7-CF62-448A-8443-F13E1973C47E}"/>
</file>

<file path=customXml/itemProps3.xml><?xml version="1.0" encoding="utf-8"?>
<ds:datastoreItem xmlns:ds="http://schemas.openxmlformats.org/officeDocument/2006/customXml" ds:itemID="{8A4E09FE-0A61-43E9-8CA5-60AFDF67D7F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911</Words>
  <Application>Microsoft Office PowerPoint</Application>
  <PresentationFormat>Widescreen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Arial,Sans-Serif</vt:lpstr>
      <vt:lpstr>Nunito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ELIAS PEREIRA</dc:creator>
  <cp:lastModifiedBy>Gustavo</cp:lastModifiedBy>
  <cp:revision>586</cp:revision>
  <dcterms:created xsi:type="dcterms:W3CDTF">2025-03-11T00:08:10Z</dcterms:created>
  <dcterms:modified xsi:type="dcterms:W3CDTF">2025-10-22T20:25:54Z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0x010100380247ADB237764AAB47CDA073F4913D</vt:lpwstr>
  </property>
</Properties>
</file>