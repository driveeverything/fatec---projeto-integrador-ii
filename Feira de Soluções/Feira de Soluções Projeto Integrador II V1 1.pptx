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147471178" r:id="rId5"/>
    <p:sldId id="2147471179" r:id="rId6"/>
    <p:sldId id="2147471156" r:id="rId7"/>
    <p:sldId id="2147471173" r:id="rId8"/>
    <p:sldId id="2147471164" r:id="rId9"/>
    <p:sldId id="2147471186" r:id="rId10"/>
    <p:sldId id="2147471162" r:id="rId11"/>
    <p:sldId id="2147471167" r:id="rId12"/>
    <p:sldId id="2147471168" r:id="rId13"/>
    <p:sldId id="2147471188" r:id="rId14"/>
    <p:sldId id="2147471187" r:id="rId15"/>
    <p:sldId id="2147471189" r:id="rId16"/>
    <p:sldId id="2147471180" r:id="rId17"/>
    <p:sldId id="2147471165" r:id="rId18"/>
    <p:sldId id="2147471185" r:id="rId1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D8C4"/>
    <a:srgbClr val="FFE4C1"/>
    <a:srgbClr val="FEEBCE"/>
    <a:srgbClr val="FF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216" y="10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E804C-C841-F63F-EF9C-2D9822D29A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7F6D4D-675E-A7E7-BDC6-1B9AA0DB3F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41E944-8A01-E41F-6F75-54A60A0FB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F92EF-C2C2-4FE7-B0CC-B56D04CC503C}" type="datetimeFigureOut">
              <a:rPr lang="pt-BR" smtClean="0"/>
              <a:t>24/11/2025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600EDC-2BAE-C954-5B49-59470487B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354623-4735-822A-8F18-7AB13F249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C5CAC-0D2B-42EC-9BE4-D43DD57308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50387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767F0-97B6-4898-1464-EA6D06DA0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A71A3-FBAA-0C71-30EF-C4C3E17395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E8FBE3-8886-056A-CEA2-3B982DFBE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F92EF-C2C2-4FE7-B0CC-B56D04CC503C}" type="datetimeFigureOut">
              <a:rPr lang="pt-BR" smtClean="0"/>
              <a:t>24/11/2025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FB3C0C-F52E-BE24-4A52-DECAEFDA9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9F6E4C-CD78-12A3-4EBE-974AD95ED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C5CAC-0D2B-42EC-9BE4-D43DD57308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5282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00098-F150-419A-A9BC-1EE2D261B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CC16AB-E376-897E-2C52-BE550EF00B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81FC71-64BC-F172-8AD4-BD9877270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F92EF-C2C2-4FE7-B0CC-B56D04CC503C}" type="datetimeFigureOut">
              <a:rPr lang="pt-BR" smtClean="0"/>
              <a:t>24/11/2025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0CC6BA-5773-1B7F-16CE-FF6508864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C9EE54-D726-42B6-D5E5-2C3CE7115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C5CAC-0D2B-42EC-9BE4-D43DD57308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119413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9F846-2F6A-744F-C918-4917FC4C3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7DDA83-FA02-B316-386E-56F8333941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155A66-8D0B-630E-20D2-1B5AE8E1E0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1483B9-A8BF-A4A6-AADD-40633E1B0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F92EF-C2C2-4FE7-B0CC-B56D04CC503C}" type="datetimeFigureOut">
              <a:rPr lang="pt-BR" smtClean="0"/>
              <a:t>24/11/2025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CB37AD-9875-6D91-41B1-8D727043B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DF534F-6DDA-54E0-0E08-DF759D2AC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C5CAC-0D2B-42EC-9BE4-D43DD57308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39875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8E74E-2150-50EE-B6ED-D1299E656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E459A8-52A3-B7D3-1198-F2643D6ACE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B8441E-0D60-0601-83D3-87FE70A615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958987-0357-7CFE-B623-A47635D7DC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94B78B-D078-5238-80D0-B789567B16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6BB6AC4-1B5E-E3A1-C60C-AA5BC952B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F92EF-C2C2-4FE7-B0CC-B56D04CC503C}" type="datetimeFigureOut">
              <a:rPr lang="pt-BR" smtClean="0"/>
              <a:t>24/11/2025</a:t>
            </a:fld>
            <a:endParaRPr lang="pt-B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31C5C5-6977-4577-D5C5-9EE92B183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643670-CA73-9D7B-9113-E81AE0338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C5CAC-0D2B-42EC-9BE4-D43DD57308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283754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1252B-98E1-7087-B344-6A38D86D7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F864BB-DC36-E4AC-B1FC-D0C8F6A2E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F92EF-C2C2-4FE7-B0CC-B56D04CC503C}" type="datetimeFigureOut">
              <a:rPr lang="pt-BR" smtClean="0"/>
              <a:t>24/11/2025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666BBF-0928-4374-620E-8BFEFFABB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ED3C37-7172-77E1-F696-20197EE60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C5CAC-0D2B-42EC-9BE4-D43DD57308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0080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A75BA1-AFED-96B0-7CA0-898C67A62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F92EF-C2C2-4FE7-B0CC-B56D04CC503C}" type="datetimeFigureOut">
              <a:rPr lang="pt-BR" smtClean="0"/>
              <a:t>24/11/2025</a:t>
            </a:fld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F0919E-04B3-10BD-5A4C-A73AD9D17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0E1FBF-BFF7-212B-DA76-2B2A25493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C5CAC-0D2B-42EC-9BE4-D43DD57308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66039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61075-D163-3EE4-B161-258DEBFB7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5D32FB-A51D-DF66-7C51-DDCCFA9E3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09AB59-B641-D3EC-29D5-B7871F5E1A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851CC6-5465-6E80-1CE8-862753C84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F92EF-C2C2-4FE7-B0CC-B56D04CC503C}" type="datetimeFigureOut">
              <a:rPr lang="pt-BR" smtClean="0"/>
              <a:t>24/11/2025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89E4E7-2E7F-1D99-0C56-7CED5E446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A5DDF2-15B4-3C53-645F-201F3DAAA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C5CAC-0D2B-42EC-9BE4-D43DD57308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05607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41610-D8BE-4877-12C9-B496F4C82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F19008-EC03-AD15-F71B-5241856BC9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347B67-E286-0A94-D5ED-CBEC3A4E0D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EA531A-7D3A-CD92-40A8-5162542F8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F92EF-C2C2-4FE7-B0CC-B56D04CC503C}" type="datetimeFigureOut">
              <a:rPr lang="pt-BR" smtClean="0"/>
              <a:t>24/11/2025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2ED5FE-359C-0EAE-36C6-58177F83A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E6E3CF-3717-AD65-E174-187608C1C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C5CAC-0D2B-42EC-9BE4-D43DD57308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79123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15EDF-2119-F798-A03C-50B2AEF26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B31E18-E903-75D7-AA58-E5A8D8062C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81C66C-06C2-E604-27F9-DACD7967E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F92EF-C2C2-4FE7-B0CC-B56D04CC503C}" type="datetimeFigureOut">
              <a:rPr lang="pt-BR" smtClean="0"/>
              <a:t>24/11/2025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9167B-CC90-563D-1BFC-6F80D99D8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FFC286-F1DB-308D-CAD9-B6BA8A182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C5CAC-0D2B-42EC-9BE4-D43DD57308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7194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333EC9-43AC-C49C-F581-D836E79C75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4A66BB-384C-B1FC-2D54-C90FB98785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2723A2-21F1-B3BF-EBCA-3CD3D310F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F92EF-C2C2-4FE7-B0CC-B56D04CC503C}" type="datetimeFigureOut">
              <a:rPr lang="pt-BR" smtClean="0"/>
              <a:t>24/11/2025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03832-EF08-7839-B54F-73B1DDA03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5CCF3-348B-A0FB-1897-53BA7299E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C5CAC-0D2B-42EC-9BE4-D43DD57308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959982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Lim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2960861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DFFB70-60B5-3946-7116-14D84326C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B9E5CC-74BF-9813-F0F7-130A0F6B0D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661B58-A81C-14C0-BBEE-454AD11CBF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AF92EF-C2C2-4FE7-B0CC-B56D04CC503C}" type="datetimeFigureOut">
              <a:rPr lang="pt-BR" smtClean="0"/>
              <a:t>24/11/2025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B501C3-5120-A0B1-3A39-21E843BCB5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8DCA61-C6CE-4C8F-CC70-60D1DCD5E0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EC5CAC-0D2B-42EC-9BE4-D43DD57308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22729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image" Target="../media/image10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png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02FFC-2479-F21B-2D83-2602D95C3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Linha">
            <a:extLst>
              <a:ext uri="{FF2B5EF4-FFF2-40B4-BE49-F238E27FC236}">
                <a16:creationId xmlns:a16="http://schemas.microsoft.com/office/drawing/2014/main" id="{16E2F487-4234-6A35-64F2-D9151DDDB144}"/>
              </a:ext>
            </a:extLst>
          </p:cNvPr>
          <p:cNvSpPr/>
          <p:nvPr/>
        </p:nvSpPr>
        <p:spPr>
          <a:xfrm flipV="1">
            <a:off x="252919" y="486960"/>
            <a:ext cx="8852170" cy="30053"/>
          </a:xfrm>
          <a:prstGeom prst="line">
            <a:avLst/>
          </a:prstGeom>
          <a:ln w="57150">
            <a:gradFill flip="none" rotWithShape="1">
              <a:gsLst>
                <a:gs pos="41964">
                  <a:srgbClr val="B2CBFF">
                    <a:alpha val="85000"/>
                  </a:srgbClr>
                </a:gs>
                <a:gs pos="62953">
                  <a:srgbClr val="93B5FF"/>
                </a:gs>
                <a:gs pos="27972">
                  <a:srgbClr val="C7D9FF"/>
                </a:gs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  <a:miter lim="400000"/>
          </a:ln>
        </p:spPr>
        <p:txBody>
          <a:bodyPr lIns="25400" tIns="25400" rIns="25400" bIns="254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00163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060063F2-D45A-F44A-644D-095F350228A1}"/>
              </a:ext>
            </a:extLst>
          </p:cNvPr>
          <p:cNvSpPr txBox="1"/>
          <p:nvPr/>
        </p:nvSpPr>
        <p:spPr>
          <a:xfrm>
            <a:off x="387804" y="952357"/>
            <a:ext cx="11416392" cy="46115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2400" b="1" dirty="0">
                <a:latin typeface="Arial"/>
                <a:cs typeface="Arial"/>
              </a:rPr>
              <a:t>Organização e controle de ferramentas por baia de trabalho.</a:t>
            </a:r>
          </a:p>
          <a:p>
            <a:pPr algn="ctr">
              <a:lnSpc>
                <a:spcPct val="150000"/>
              </a:lnSpc>
            </a:pPr>
            <a:r>
              <a:rPr lang="pt-BR" sz="2400" b="1" dirty="0">
                <a:latin typeface="Arial"/>
                <a:cs typeface="Arial"/>
              </a:rPr>
              <a:t>Cliente: Aernnova – Fábio Elizeu</a:t>
            </a:r>
          </a:p>
          <a:p>
            <a:pPr algn="ctr">
              <a:lnSpc>
                <a:spcPct val="150000"/>
              </a:lnSpc>
            </a:pPr>
            <a:endParaRPr lang="pt-BR" sz="2200" b="1" dirty="0">
              <a:latin typeface="Arial"/>
              <a:cs typeface="Arial"/>
            </a:endParaRPr>
          </a:p>
          <a:p>
            <a:pPr algn="just">
              <a:lnSpc>
                <a:spcPct val="150000"/>
              </a:lnSpc>
            </a:pPr>
            <a:r>
              <a:rPr lang="pt-BR" sz="2000" b="1" dirty="0">
                <a:latin typeface="Arial"/>
                <a:cs typeface="Arial"/>
              </a:rPr>
              <a:t>Equipe </a:t>
            </a:r>
            <a:r>
              <a:rPr lang="pt-BR" sz="2000" b="1" dirty="0" err="1">
                <a:latin typeface="Arial"/>
                <a:cs typeface="Arial"/>
              </a:rPr>
              <a:t>ToolVision</a:t>
            </a:r>
            <a:endParaRPr lang="pt-BR" sz="2000" b="1" dirty="0">
              <a:latin typeface="Arial"/>
              <a:cs typeface="Arial"/>
            </a:endParaRPr>
          </a:p>
          <a:p>
            <a:pPr algn="just">
              <a:lnSpc>
                <a:spcPct val="150000"/>
              </a:lnSpc>
            </a:pPr>
            <a:r>
              <a:rPr lang="pt-BR" dirty="0">
                <a:latin typeface="Arial"/>
                <a:cs typeface="Arial"/>
              </a:rPr>
              <a:t>Franciel Izidoro da Costa</a:t>
            </a:r>
          </a:p>
          <a:p>
            <a:pPr algn="just">
              <a:lnSpc>
                <a:spcPct val="150000"/>
              </a:lnSpc>
            </a:pPr>
            <a:r>
              <a:rPr lang="pt-BR" dirty="0">
                <a:latin typeface="Arial"/>
                <a:cs typeface="Arial"/>
              </a:rPr>
              <a:t>Gabriel Donizetti Jesus Campos</a:t>
            </a:r>
          </a:p>
          <a:p>
            <a:pPr algn="just">
              <a:lnSpc>
                <a:spcPct val="150000"/>
              </a:lnSpc>
            </a:pPr>
            <a:r>
              <a:rPr lang="pt-BR" dirty="0">
                <a:latin typeface="Arial"/>
                <a:cs typeface="Arial"/>
              </a:rPr>
              <a:t>Gustavo Evangelista Rodrigues</a:t>
            </a:r>
          </a:p>
          <a:p>
            <a:pPr algn="just">
              <a:lnSpc>
                <a:spcPct val="150000"/>
              </a:lnSpc>
            </a:pPr>
            <a:r>
              <a:rPr lang="pt-BR" dirty="0">
                <a:latin typeface="Arial"/>
                <a:cs typeface="Arial"/>
              </a:rPr>
              <a:t>Raphael Nunes Silva</a:t>
            </a:r>
          </a:p>
          <a:p>
            <a:pPr algn="just">
              <a:lnSpc>
                <a:spcPct val="150000"/>
              </a:lnSpc>
            </a:pPr>
            <a:r>
              <a:rPr lang="pt-BR" dirty="0">
                <a:latin typeface="Arial"/>
                <a:cs typeface="Arial"/>
              </a:rPr>
              <a:t>Robson Rodolfo Azevedo</a:t>
            </a:r>
          </a:p>
          <a:p>
            <a:pPr algn="just">
              <a:lnSpc>
                <a:spcPct val="150000"/>
              </a:lnSpc>
            </a:pPr>
            <a:r>
              <a:rPr lang="pt-BR" dirty="0">
                <a:latin typeface="Arial"/>
                <a:cs typeface="Arial"/>
              </a:rPr>
              <a:t>Tainan de Souza Ferreira dos Santos</a:t>
            </a:r>
            <a:endParaRPr lang="pt-BR" sz="2000" b="1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88071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02FFC-2479-F21B-2D83-2602D95C3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Linha">
            <a:extLst>
              <a:ext uri="{FF2B5EF4-FFF2-40B4-BE49-F238E27FC236}">
                <a16:creationId xmlns:a16="http://schemas.microsoft.com/office/drawing/2014/main" id="{16E2F487-4234-6A35-64F2-D9151DDDB144}"/>
              </a:ext>
            </a:extLst>
          </p:cNvPr>
          <p:cNvSpPr/>
          <p:nvPr/>
        </p:nvSpPr>
        <p:spPr>
          <a:xfrm flipV="1">
            <a:off x="252919" y="486960"/>
            <a:ext cx="8852170" cy="30053"/>
          </a:xfrm>
          <a:prstGeom prst="line">
            <a:avLst/>
          </a:prstGeom>
          <a:ln w="57150">
            <a:gradFill flip="none" rotWithShape="1">
              <a:gsLst>
                <a:gs pos="41964">
                  <a:srgbClr val="B2CBFF">
                    <a:alpha val="85000"/>
                  </a:srgbClr>
                </a:gs>
                <a:gs pos="62953">
                  <a:srgbClr val="93B5FF"/>
                </a:gs>
                <a:gs pos="27972">
                  <a:srgbClr val="C7D9FF"/>
                </a:gs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  <a:miter lim="400000"/>
          </a:ln>
        </p:spPr>
        <p:txBody>
          <a:bodyPr lIns="25400" tIns="25400" rIns="25400" bIns="254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00163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F3308A1B-B698-4AEA-BE47-3BA8CE6BE8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752" y="2089735"/>
            <a:ext cx="10224496" cy="2678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175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02FFC-2479-F21B-2D83-2602D95C3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Linha">
            <a:extLst>
              <a:ext uri="{FF2B5EF4-FFF2-40B4-BE49-F238E27FC236}">
                <a16:creationId xmlns:a16="http://schemas.microsoft.com/office/drawing/2014/main" id="{16E2F487-4234-6A35-64F2-D9151DDDB144}"/>
              </a:ext>
            </a:extLst>
          </p:cNvPr>
          <p:cNvSpPr/>
          <p:nvPr/>
        </p:nvSpPr>
        <p:spPr>
          <a:xfrm flipV="1">
            <a:off x="252919" y="486960"/>
            <a:ext cx="8852170" cy="30053"/>
          </a:xfrm>
          <a:prstGeom prst="line">
            <a:avLst/>
          </a:prstGeom>
          <a:ln w="57150">
            <a:gradFill flip="none" rotWithShape="1">
              <a:gsLst>
                <a:gs pos="41964">
                  <a:srgbClr val="B2CBFF">
                    <a:alpha val="85000"/>
                  </a:srgbClr>
                </a:gs>
                <a:gs pos="62953">
                  <a:srgbClr val="93B5FF"/>
                </a:gs>
                <a:gs pos="27972">
                  <a:srgbClr val="C7D9FF"/>
                </a:gs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  <a:miter lim="400000"/>
          </a:ln>
        </p:spPr>
        <p:txBody>
          <a:bodyPr lIns="25400" tIns="25400" rIns="25400" bIns="254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00163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4DABF5-1984-C328-8207-7A632D2B0EA1}"/>
              </a:ext>
            </a:extLst>
          </p:cNvPr>
          <p:cNvSpPr txBox="1"/>
          <p:nvPr/>
        </p:nvSpPr>
        <p:spPr>
          <a:xfrm>
            <a:off x="204278" y="125347"/>
            <a:ext cx="1404389" cy="4103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lvl="0" indent="0" algn="l" defTabSz="2438338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Helvetica Neue"/>
              </a:rPr>
              <a:t>Entrega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Helvetica Neue"/>
              </a:rPr>
              <a:t> 1</a:t>
            </a:r>
            <a:endParaRPr kumimoji="0" lang="pt-BR" sz="20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2E0BEC99-5C62-4578-B83D-CED6B1C4FCEB}"/>
              </a:ext>
            </a:extLst>
          </p:cNvPr>
          <p:cNvSpPr txBox="1"/>
          <p:nvPr/>
        </p:nvSpPr>
        <p:spPr>
          <a:xfrm>
            <a:off x="10364949" y="0"/>
            <a:ext cx="1766236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sng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Resp.: </a:t>
            </a:r>
          </a:p>
          <a:p>
            <a:pPr algn="ctr">
              <a:defRPr/>
            </a:pPr>
            <a:r>
              <a:rPr lang="pt-BR" u="sng" dirty="0">
                <a:solidFill>
                  <a:srgbClr val="0070C0"/>
                </a:solidFill>
                <a:latin typeface="Aptos" panose="02110004020202020204"/>
              </a:rPr>
              <a:t>Robson</a:t>
            </a:r>
            <a:endParaRPr kumimoji="0" lang="pt-BR" sz="1800" b="0" i="0" u="sng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B7381407-2E89-446F-9A6D-AA9CC3B54AEB}"/>
              </a:ext>
            </a:extLst>
          </p:cNvPr>
          <p:cNvSpPr txBox="1"/>
          <p:nvPr/>
        </p:nvSpPr>
        <p:spPr>
          <a:xfrm>
            <a:off x="1608667" y="92333"/>
            <a:ext cx="8669433" cy="55399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kumimoji="0" lang="pt-BR" sz="140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cs typeface="Arial"/>
              </a:rPr>
              <a:t>XPTO1:</a:t>
            </a:r>
            <a:r>
              <a:rPr lang="pt-BR" sz="1400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pt-BR" sz="1600" dirty="0">
                <a:solidFill>
                  <a:srgbClr val="0070C0"/>
                </a:solidFill>
                <a:latin typeface="Aptos"/>
                <a:cs typeface="Arial"/>
              </a:rPr>
              <a:t>Comunicação com o cliente e alinhamento </a:t>
            </a:r>
            <a:r>
              <a: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ptos"/>
                <a:cs typeface="Arial"/>
              </a:rPr>
              <a:t>de </a:t>
            </a:r>
            <a:r>
              <a:rPr lang="pt-BR" sz="1600" dirty="0">
                <a:solidFill>
                  <a:srgbClr val="0070C0"/>
                </a:solidFill>
                <a:latin typeface="Aptos"/>
                <a:cs typeface="Arial"/>
              </a:rPr>
              <a:t>ideias </a:t>
            </a:r>
            <a:endParaRPr lang="pt-BR" sz="1400" dirty="0" err="1">
              <a:solidFill>
                <a:srgbClr val="0070C0"/>
              </a:solidFill>
              <a:latin typeface="Arial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4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060063F2-D45A-F44A-644D-095F350228A1}"/>
              </a:ext>
            </a:extLst>
          </p:cNvPr>
          <p:cNvSpPr txBox="1"/>
          <p:nvPr/>
        </p:nvSpPr>
        <p:spPr>
          <a:xfrm>
            <a:off x="381000" y="639536"/>
            <a:ext cx="11416392" cy="49175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2400" b="1" u="sng" dirty="0">
                <a:latin typeface="Arial"/>
                <a:cs typeface="Arial"/>
              </a:rPr>
              <a:t>Problema: Organização e controle de ferramentas por baia de trabalho.</a:t>
            </a:r>
          </a:p>
          <a:p>
            <a:pPr algn="ctr">
              <a:lnSpc>
                <a:spcPct val="150000"/>
              </a:lnSpc>
            </a:pPr>
            <a:r>
              <a:rPr lang="pt-BR" sz="2800" b="1" dirty="0">
                <a:latin typeface="Arial"/>
                <a:cs typeface="Arial"/>
              </a:rPr>
              <a:t>Pontos de vista</a:t>
            </a:r>
            <a:endParaRPr lang="pt-BR" sz="2100" dirty="0">
              <a:latin typeface="Arial"/>
              <a:cs typeface="Arial"/>
            </a:endParaRPr>
          </a:p>
          <a:p>
            <a:pPr algn="ctr">
              <a:lnSpc>
                <a:spcPct val="150000"/>
              </a:lnSpc>
            </a:pPr>
            <a:r>
              <a:rPr lang="pt-BR" sz="2200" b="1" dirty="0">
                <a:latin typeface="Arial"/>
                <a:cs typeface="Arial"/>
              </a:rPr>
              <a:t>Operador: </a:t>
            </a:r>
            <a:r>
              <a:rPr lang="pt-BR" sz="2200" dirty="0">
                <a:latin typeface="Arial"/>
                <a:cs typeface="Arial"/>
              </a:rPr>
              <a:t>Melhor visualização e organização das ferramentas, otimização de tempo.</a:t>
            </a:r>
          </a:p>
          <a:p>
            <a:pPr algn="ctr">
              <a:lnSpc>
                <a:spcPct val="150000"/>
              </a:lnSpc>
            </a:pPr>
            <a:r>
              <a:rPr lang="pt-BR" sz="2200" b="1" dirty="0">
                <a:latin typeface="Arial"/>
                <a:cs typeface="Arial"/>
              </a:rPr>
              <a:t>Supervisor</a:t>
            </a:r>
            <a:r>
              <a:rPr lang="pt-BR" sz="2200" dirty="0">
                <a:latin typeface="Arial"/>
                <a:cs typeface="Arial"/>
              </a:rPr>
              <a:t>: Melhor rastreabilidade da ferramenta, promovendo responsabilidade.</a:t>
            </a:r>
          </a:p>
          <a:p>
            <a:pPr algn="ctr">
              <a:lnSpc>
                <a:spcPct val="150000"/>
              </a:lnSpc>
            </a:pPr>
            <a:r>
              <a:rPr lang="pt-BR" sz="2200" b="1" dirty="0">
                <a:latin typeface="Arial"/>
                <a:cs typeface="Arial"/>
              </a:rPr>
              <a:t>Empresa:</a:t>
            </a:r>
            <a:r>
              <a:rPr lang="pt-BR" sz="2200" dirty="0">
                <a:latin typeface="Arial"/>
                <a:cs typeface="Arial"/>
              </a:rPr>
              <a:t> Redução de extravios de ferramentas, otimização de tempo e custo. </a:t>
            </a:r>
          </a:p>
          <a:p>
            <a:pPr algn="ctr">
              <a:lnSpc>
                <a:spcPct val="150000"/>
              </a:lnSpc>
            </a:pPr>
            <a:endParaRPr lang="pt-BR" sz="2000" dirty="0">
              <a:latin typeface="Arial"/>
              <a:cs typeface="Arial"/>
            </a:endParaRPr>
          </a:p>
          <a:p>
            <a:pPr algn="ctr">
              <a:lnSpc>
                <a:spcPct val="150000"/>
              </a:lnSpc>
            </a:pPr>
            <a:r>
              <a:rPr lang="pt-BR" sz="2800" b="1" dirty="0">
                <a:latin typeface="Arial"/>
                <a:cs typeface="Arial"/>
              </a:rPr>
              <a:t>Objetivo</a:t>
            </a:r>
            <a:r>
              <a:rPr lang="pt-BR" sz="2000" dirty="0">
                <a:latin typeface="Arial"/>
                <a:cs typeface="Arial"/>
              </a:rPr>
              <a:t>: </a:t>
            </a:r>
          </a:p>
          <a:p>
            <a:pPr algn="ctr">
              <a:lnSpc>
                <a:spcPct val="150000"/>
              </a:lnSpc>
            </a:pPr>
            <a:r>
              <a:rPr lang="pt-BR" sz="2400" b="1" dirty="0">
                <a:latin typeface="Arial"/>
                <a:cs typeface="Arial"/>
              </a:rPr>
              <a:t>Melhorar</a:t>
            </a:r>
            <a:r>
              <a:rPr lang="pt-BR" sz="2400" dirty="0">
                <a:latin typeface="Arial"/>
                <a:cs typeface="Arial"/>
              </a:rPr>
              <a:t> o controle e a organização de ferramentas, tornando mais rápido, prático e seguro a utilização e armazenamento da ferramenta.</a:t>
            </a:r>
          </a:p>
        </p:txBody>
      </p:sp>
    </p:spTree>
    <p:extLst>
      <p:ext uri="{BB962C8B-B14F-4D97-AF65-F5344CB8AC3E}">
        <p14:creationId xmlns:p14="http://schemas.microsoft.com/office/powerpoint/2010/main" val="1869627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02FFC-2479-F21B-2D83-2602D95C3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Linha">
            <a:extLst>
              <a:ext uri="{FF2B5EF4-FFF2-40B4-BE49-F238E27FC236}">
                <a16:creationId xmlns:a16="http://schemas.microsoft.com/office/drawing/2014/main" id="{16E2F487-4234-6A35-64F2-D9151DDDB144}"/>
              </a:ext>
            </a:extLst>
          </p:cNvPr>
          <p:cNvSpPr/>
          <p:nvPr/>
        </p:nvSpPr>
        <p:spPr>
          <a:xfrm flipV="1">
            <a:off x="252919" y="486960"/>
            <a:ext cx="8852170" cy="30053"/>
          </a:xfrm>
          <a:prstGeom prst="line">
            <a:avLst/>
          </a:prstGeom>
          <a:ln w="57150">
            <a:gradFill flip="none" rotWithShape="1">
              <a:gsLst>
                <a:gs pos="41964">
                  <a:srgbClr val="B2CBFF">
                    <a:alpha val="85000"/>
                  </a:srgbClr>
                </a:gs>
                <a:gs pos="62953">
                  <a:srgbClr val="93B5FF"/>
                </a:gs>
                <a:gs pos="27972">
                  <a:srgbClr val="C7D9FF"/>
                </a:gs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  <a:miter lim="400000"/>
          </a:ln>
        </p:spPr>
        <p:txBody>
          <a:bodyPr lIns="25400" tIns="25400" rIns="25400" bIns="254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00163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4DABF5-1984-C328-8207-7A632D2B0EA1}"/>
              </a:ext>
            </a:extLst>
          </p:cNvPr>
          <p:cNvSpPr txBox="1"/>
          <p:nvPr/>
        </p:nvSpPr>
        <p:spPr>
          <a:xfrm>
            <a:off x="204278" y="125347"/>
            <a:ext cx="1404389" cy="4103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lvl="0" indent="0" algn="l" defTabSz="2438338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Helvetica Neue"/>
              </a:rPr>
              <a:t>Entrega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Helvetica Neue"/>
              </a:rPr>
              <a:t> 1</a:t>
            </a:r>
            <a:endParaRPr kumimoji="0" lang="pt-BR" sz="20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2E0BEC99-5C62-4578-B83D-CED6B1C4FCEB}"/>
              </a:ext>
            </a:extLst>
          </p:cNvPr>
          <p:cNvSpPr txBox="1"/>
          <p:nvPr/>
        </p:nvSpPr>
        <p:spPr>
          <a:xfrm>
            <a:off x="10364949" y="0"/>
            <a:ext cx="1766236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sng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Resp.: </a:t>
            </a:r>
          </a:p>
          <a:p>
            <a:pPr algn="ctr">
              <a:defRPr/>
            </a:pPr>
            <a:r>
              <a:rPr lang="pt-BR" u="sng" dirty="0">
                <a:solidFill>
                  <a:srgbClr val="0070C0"/>
                </a:solidFill>
                <a:latin typeface="Aptos" panose="02110004020202020204"/>
              </a:rPr>
              <a:t>Robson</a:t>
            </a:r>
            <a:endParaRPr kumimoji="0" lang="pt-BR" sz="1800" b="0" i="0" u="sng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060063F2-D45A-F44A-644D-095F350228A1}"/>
              </a:ext>
            </a:extLst>
          </p:cNvPr>
          <p:cNvSpPr txBox="1"/>
          <p:nvPr/>
        </p:nvSpPr>
        <p:spPr>
          <a:xfrm>
            <a:off x="387804" y="1040958"/>
            <a:ext cx="11416392" cy="461549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pt-BR" sz="1600" dirty="0">
              <a:latin typeface="Arial"/>
              <a:cs typeface="Arial"/>
            </a:endParaRPr>
          </a:p>
          <a:p>
            <a:pPr algn="ctr"/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Descrição da melhoria </a:t>
            </a:r>
          </a:p>
          <a:p>
            <a:pPr algn="just"/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Foi desenvolvido um modelo de armazenamento em formato de </a:t>
            </a:r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painel fixo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, proporcionando maior organização, transparência e monitoramento.</a:t>
            </a:r>
          </a:p>
          <a:p>
            <a:pPr algn="just"/>
            <a:endParaRPr lang="pt-BR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pt-BR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Principais características</a:t>
            </a:r>
            <a:endParaRPr 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20000"/>
              </a:lnSpc>
            </a:pPr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Quadro 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visível e acessível.</a:t>
            </a:r>
          </a:p>
          <a:p>
            <a:pPr algn="ctr">
              <a:lnSpc>
                <a:spcPct val="120000"/>
              </a:lnSpc>
            </a:pPr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Porta em acrílico 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proporciona visualização imediata.</a:t>
            </a:r>
          </a:p>
          <a:p>
            <a:pPr algn="ctr">
              <a:lnSpc>
                <a:spcPct val="120000"/>
              </a:lnSpc>
            </a:pPr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Esquema de cores 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para identificação rápida.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20000"/>
              </a:lnSpc>
            </a:pPr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Setorização 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de ferramentas.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20000"/>
              </a:lnSpc>
            </a:pPr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Localização 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estratégica.</a:t>
            </a:r>
            <a:endParaRPr lang="pt-BR" dirty="0">
              <a:cs typeface="Arial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F7F1565-40B6-43DA-BEF4-55C120776AAC}"/>
              </a:ext>
            </a:extLst>
          </p:cNvPr>
          <p:cNvSpPr txBox="1"/>
          <p:nvPr/>
        </p:nvSpPr>
        <p:spPr>
          <a:xfrm>
            <a:off x="1608667" y="92333"/>
            <a:ext cx="8669433" cy="55399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kumimoji="0" lang="pt-BR" sz="140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cs typeface="Arial"/>
              </a:rPr>
              <a:t>XPTO1:</a:t>
            </a:r>
            <a:r>
              <a:rPr lang="pt-BR" sz="1400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pt-BR" sz="1600" dirty="0">
                <a:solidFill>
                  <a:srgbClr val="0070C0"/>
                </a:solidFill>
                <a:latin typeface="Aptos"/>
                <a:cs typeface="Arial"/>
              </a:rPr>
              <a:t>Comunicação com o cliente e alinhamento </a:t>
            </a:r>
            <a:r>
              <a: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ptos"/>
                <a:cs typeface="Arial"/>
              </a:rPr>
              <a:t>de </a:t>
            </a:r>
            <a:r>
              <a:rPr lang="pt-BR" sz="1600" dirty="0">
                <a:solidFill>
                  <a:srgbClr val="0070C0"/>
                </a:solidFill>
                <a:latin typeface="Aptos"/>
                <a:cs typeface="Arial"/>
              </a:rPr>
              <a:t>ideias </a:t>
            </a:r>
            <a:endParaRPr lang="pt-BR" sz="1400" dirty="0" err="1">
              <a:solidFill>
                <a:srgbClr val="0070C0"/>
              </a:solidFill>
              <a:latin typeface="Arial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4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9383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4CEE92-A810-E9BA-6221-7A8B145830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Linha">
            <a:extLst>
              <a:ext uri="{FF2B5EF4-FFF2-40B4-BE49-F238E27FC236}">
                <a16:creationId xmlns:a16="http://schemas.microsoft.com/office/drawing/2014/main" id="{85404806-6DA4-AC8F-C37A-15B7C6F001A8}"/>
              </a:ext>
            </a:extLst>
          </p:cNvPr>
          <p:cNvSpPr/>
          <p:nvPr/>
        </p:nvSpPr>
        <p:spPr>
          <a:xfrm flipV="1">
            <a:off x="252919" y="486960"/>
            <a:ext cx="8852170" cy="30053"/>
          </a:xfrm>
          <a:prstGeom prst="line">
            <a:avLst/>
          </a:prstGeom>
          <a:ln w="57150">
            <a:gradFill flip="none" rotWithShape="1">
              <a:gsLst>
                <a:gs pos="41964">
                  <a:srgbClr val="B2CBFF">
                    <a:alpha val="85000"/>
                  </a:srgbClr>
                </a:gs>
                <a:gs pos="62953">
                  <a:srgbClr val="93B5FF"/>
                </a:gs>
                <a:gs pos="27972">
                  <a:srgbClr val="C7D9FF"/>
                </a:gs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  <a:miter lim="400000"/>
          </a:ln>
        </p:spPr>
        <p:txBody>
          <a:bodyPr lIns="25400" tIns="25400" rIns="25400" bIns="254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00163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1E13AE-C8AE-E014-DE84-527927BEF565}"/>
              </a:ext>
            </a:extLst>
          </p:cNvPr>
          <p:cNvSpPr txBox="1"/>
          <p:nvPr/>
        </p:nvSpPr>
        <p:spPr>
          <a:xfrm>
            <a:off x="204278" y="125347"/>
            <a:ext cx="1404389" cy="4103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lvl="0" indent="0" algn="l" defTabSz="2438338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Helvetica Neue"/>
              </a:rPr>
              <a:t>Entrega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Helvetica Neue"/>
              </a:rPr>
              <a:t> 1</a:t>
            </a:r>
            <a:endParaRPr kumimoji="0" lang="pt-BR" sz="20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7520504-6461-1EA2-1870-36C90A8CAD96}"/>
              </a:ext>
            </a:extLst>
          </p:cNvPr>
          <p:cNvSpPr txBox="1"/>
          <p:nvPr/>
        </p:nvSpPr>
        <p:spPr>
          <a:xfrm>
            <a:off x="10364949" y="0"/>
            <a:ext cx="1766236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sng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Resp.: </a:t>
            </a:r>
          </a:p>
          <a:p>
            <a:pPr algn="ctr">
              <a:defRPr/>
            </a:pPr>
            <a:r>
              <a:rPr lang="pt-BR" u="sng" dirty="0">
                <a:solidFill>
                  <a:srgbClr val="0070C0"/>
                </a:solidFill>
                <a:latin typeface="Aptos" panose="02110004020202020204"/>
              </a:rPr>
              <a:t>Robson</a:t>
            </a:r>
            <a:endParaRPr kumimoji="0" lang="pt-BR" sz="1800" b="0" i="0" u="sng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33F13FD-7723-AECC-89CD-837A0CB5D0E0}"/>
              </a:ext>
            </a:extLst>
          </p:cNvPr>
          <p:cNvSpPr txBox="1"/>
          <p:nvPr/>
        </p:nvSpPr>
        <p:spPr>
          <a:xfrm>
            <a:off x="387804" y="1007944"/>
            <a:ext cx="11416392" cy="48320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Restrições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,Sans-Serif"/>
              <a:buChar char="•"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Normas de segurança e ergonomia.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,Sans-Serif"/>
              <a:buChar char="•"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Painel fixo e de uso coletivo, restrito a baia de trabalho.</a:t>
            </a:r>
          </a:p>
          <a:p>
            <a:pPr marL="285750" indent="-285750" algn="just">
              <a:buFont typeface="Arial,Sans-Serif"/>
              <a:buChar char="•"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Requer conexão com a internet.</a:t>
            </a:r>
          </a:p>
          <a:p>
            <a:pPr marL="285750" indent="-285750" algn="just">
              <a:buFont typeface="Arial,Sans-Serif"/>
              <a:buChar char="•"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Disponibilidade limitada de informações.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pt-BR" b="1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pt-BR" b="1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Premissas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,Sans-Serif"/>
              <a:buChar char="•"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O espaço físico é suficiente para os painéis.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,Sans-Serif"/>
              <a:buChar char="•"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O cliente (Aernnova) participará das validações em cada Sprint, fornecendo feedback.</a:t>
            </a:r>
          </a:p>
          <a:p>
            <a:pPr marL="285750" indent="-285750" algn="just">
              <a:buFont typeface="Arial,Sans-Serif"/>
              <a:buChar char="•"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O cliente estabelecerá contato com os fornecedores para obter os insumos necessários.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A5D632B-D485-436C-95A2-0D4CB53D1017}"/>
              </a:ext>
            </a:extLst>
          </p:cNvPr>
          <p:cNvSpPr txBox="1"/>
          <p:nvPr/>
        </p:nvSpPr>
        <p:spPr>
          <a:xfrm>
            <a:off x="1608667" y="92333"/>
            <a:ext cx="8669433" cy="55399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kumimoji="0" lang="pt-BR" sz="140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cs typeface="Arial"/>
              </a:rPr>
              <a:t>XPTO1:</a:t>
            </a:r>
            <a:r>
              <a:rPr lang="pt-BR" sz="1400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pt-BR" sz="1600" dirty="0">
                <a:solidFill>
                  <a:srgbClr val="0070C0"/>
                </a:solidFill>
                <a:latin typeface="Aptos"/>
                <a:cs typeface="Arial"/>
              </a:rPr>
              <a:t>Comunicação com o cliente e alinhamento </a:t>
            </a:r>
            <a:r>
              <a: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ptos"/>
                <a:cs typeface="Arial"/>
              </a:rPr>
              <a:t>de </a:t>
            </a:r>
            <a:r>
              <a:rPr lang="pt-BR" sz="1600" dirty="0">
                <a:solidFill>
                  <a:srgbClr val="0070C0"/>
                </a:solidFill>
                <a:latin typeface="Aptos"/>
                <a:cs typeface="Arial"/>
              </a:rPr>
              <a:t>ideias </a:t>
            </a:r>
            <a:endParaRPr lang="pt-BR" sz="1400" dirty="0" err="1">
              <a:solidFill>
                <a:srgbClr val="0070C0"/>
              </a:solidFill>
              <a:latin typeface="Arial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4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541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4CEE92-A810-E9BA-6221-7A8B145830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Linha">
            <a:extLst>
              <a:ext uri="{FF2B5EF4-FFF2-40B4-BE49-F238E27FC236}">
                <a16:creationId xmlns:a16="http://schemas.microsoft.com/office/drawing/2014/main" id="{85404806-6DA4-AC8F-C37A-15B7C6F001A8}"/>
              </a:ext>
            </a:extLst>
          </p:cNvPr>
          <p:cNvSpPr/>
          <p:nvPr/>
        </p:nvSpPr>
        <p:spPr>
          <a:xfrm flipV="1">
            <a:off x="252919" y="486960"/>
            <a:ext cx="8852170" cy="30053"/>
          </a:xfrm>
          <a:prstGeom prst="line">
            <a:avLst/>
          </a:prstGeom>
          <a:ln w="57150">
            <a:gradFill flip="none" rotWithShape="1">
              <a:gsLst>
                <a:gs pos="41964">
                  <a:srgbClr val="B2CBFF">
                    <a:alpha val="85000"/>
                  </a:srgbClr>
                </a:gs>
                <a:gs pos="62953">
                  <a:srgbClr val="93B5FF"/>
                </a:gs>
                <a:gs pos="27972">
                  <a:srgbClr val="C7D9FF"/>
                </a:gs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  <a:miter lim="400000"/>
          </a:ln>
        </p:spPr>
        <p:txBody>
          <a:bodyPr lIns="25400" tIns="25400" rIns="25400" bIns="254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00163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1E13AE-C8AE-E014-DE84-527927BEF565}"/>
              </a:ext>
            </a:extLst>
          </p:cNvPr>
          <p:cNvSpPr txBox="1"/>
          <p:nvPr/>
        </p:nvSpPr>
        <p:spPr>
          <a:xfrm>
            <a:off x="204278" y="125347"/>
            <a:ext cx="1404389" cy="4103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lvl="0" indent="0" algn="l" defTabSz="2438338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Helvetica Neue"/>
              </a:rPr>
              <a:t>Entrega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Helvetica Neue"/>
              </a:rPr>
              <a:t> 1</a:t>
            </a:r>
            <a:endParaRPr kumimoji="0" lang="pt-BR" sz="20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7520504-6461-1EA2-1870-36C90A8CAD96}"/>
              </a:ext>
            </a:extLst>
          </p:cNvPr>
          <p:cNvSpPr txBox="1"/>
          <p:nvPr/>
        </p:nvSpPr>
        <p:spPr>
          <a:xfrm>
            <a:off x="10364949" y="0"/>
            <a:ext cx="1766236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sng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Resp.: </a:t>
            </a:r>
          </a:p>
          <a:p>
            <a:pPr algn="ctr">
              <a:defRPr/>
            </a:pPr>
            <a:r>
              <a:rPr lang="pt-BR" u="sng" dirty="0">
                <a:solidFill>
                  <a:srgbClr val="0070C0"/>
                </a:solidFill>
                <a:latin typeface="Aptos" panose="02110004020202020204"/>
              </a:rPr>
              <a:t>Robson</a:t>
            </a:r>
            <a:endParaRPr kumimoji="0" lang="pt-BR" sz="1800" b="0" i="0" u="sng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33F13FD-7723-AECC-89CD-837A0CB5D0E0}"/>
              </a:ext>
            </a:extLst>
          </p:cNvPr>
          <p:cNvSpPr txBox="1"/>
          <p:nvPr/>
        </p:nvSpPr>
        <p:spPr>
          <a:xfrm>
            <a:off x="387804" y="1136064"/>
            <a:ext cx="11416392" cy="458587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Riscos: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Resistência dos mecânicos à mudança.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Maior exposição das ferramentas ao ambiente.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Possíveis danos, se for usado de maneira incorreta.</a:t>
            </a:r>
            <a:endParaRPr lang="pt-B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Oportunidades: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Padronização da gestão de ferramentas em toda a empresa.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Redução de extravios e perdas, gerando economia.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Possível redução do tempo de busca por ferramentas.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Potencial de expansão da solução para outras áreas ou unidades da empresa.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Fortalecimento da disciplina operacional e da responsabilidade individual.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Geração de relatórios de acesso ao painel.</a:t>
            </a:r>
            <a:endParaRPr lang="pt-BR" sz="2000" dirty="0">
              <a:latin typeface="Arial" panose="020B0604020202020204" pitchFamily="34" charset="0"/>
              <a:cs typeface="Arial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A5D632B-D485-436C-95A2-0D4CB53D1017}"/>
              </a:ext>
            </a:extLst>
          </p:cNvPr>
          <p:cNvSpPr txBox="1"/>
          <p:nvPr/>
        </p:nvSpPr>
        <p:spPr>
          <a:xfrm>
            <a:off x="1608667" y="92333"/>
            <a:ext cx="8669433" cy="55399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kumimoji="0" lang="pt-BR" sz="140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cs typeface="Arial"/>
              </a:rPr>
              <a:t>XPTO1:</a:t>
            </a:r>
            <a:r>
              <a:rPr lang="pt-BR" sz="1400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pt-BR" sz="1600" dirty="0">
                <a:solidFill>
                  <a:srgbClr val="0070C0"/>
                </a:solidFill>
                <a:latin typeface="Aptos"/>
                <a:cs typeface="Arial"/>
              </a:rPr>
              <a:t>Comunicação com o cliente e alinhamento </a:t>
            </a:r>
            <a:r>
              <a: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ptos"/>
                <a:cs typeface="Arial"/>
              </a:rPr>
              <a:t>de </a:t>
            </a:r>
            <a:r>
              <a:rPr lang="pt-BR" sz="1600" dirty="0">
                <a:solidFill>
                  <a:srgbClr val="0070C0"/>
                </a:solidFill>
                <a:latin typeface="Aptos"/>
                <a:cs typeface="Arial"/>
              </a:rPr>
              <a:t>ideias </a:t>
            </a:r>
            <a:endParaRPr lang="pt-BR" sz="1400" dirty="0" err="1">
              <a:solidFill>
                <a:srgbClr val="0070C0"/>
              </a:solidFill>
              <a:latin typeface="Arial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4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9272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B5BC18-229C-836E-7D4F-A19C07C4C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Linha">
            <a:extLst>
              <a:ext uri="{FF2B5EF4-FFF2-40B4-BE49-F238E27FC236}">
                <a16:creationId xmlns:a16="http://schemas.microsoft.com/office/drawing/2014/main" id="{1687D434-4597-E5A2-025A-B2AF158FF66F}"/>
              </a:ext>
            </a:extLst>
          </p:cNvPr>
          <p:cNvSpPr/>
          <p:nvPr/>
        </p:nvSpPr>
        <p:spPr>
          <a:xfrm flipV="1">
            <a:off x="252919" y="486960"/>
            <a:ext cx="8852170" cy="30053"/>
          </a:xfrm>
          <a:prstGeom prst="line">
            <a:avLst/>
          </a:prstGeom>
          <a:ln w="57150">
            <a:gradFill flip="none" rotWithShape="1">
              <a:gsLst>
                <a:gs pos="41964">
                  <a:srgbClr val="B2CBFF">
                    <a:alpha val="85000"/>
                  </a:srgbClr>
                </a:gs>
                <a:gs pos="62953">
                  <a:srgbClr val="93B5FF"/>
                </a:gs>
                <a:gs pos="27972">
                  <a:srgbClr val="C7D9FF"/>
                </a:gs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  <a:miter lim="400000"/>
          </a:ln>
        </p:spPr>
        <p:txBody>
          <a:bodyPr lIns="25400" tIns="25400" rIns="25400" bIns="254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00163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050E4C-AAF2-3CE5-E933-FD3FB96A1FF8}"/>
              </a:ext>
            </a:extLst>
          </p:cNvPr>
          <p:cNvSpPr txBox="1"/>
          <p:nvPr/>
        </p:nvSpPr>
        <p:spPr>
          <a:xfrm>
            <a:off x="204278" y="125347"/>
            <a:ext cx="1404389" cy="4103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lvl="0" indent="0" algn="l" defTabSz="2438338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cs typeface="Arial"/>
                <a:sym typeface="Helvetica Neue"/>
              </a:rPr>
              <a:t>Entrega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cs typeface="Arial"/>
                <a:sym typeface="Helvetica Neue"/>
              </a:rPr>
              <a:t> </a:t>
            </a:r>
            <a:r>
              <a:rPr lang="en-US" sz="2000" b="1" dirty="0">
                <a:solidFill>
                  <a:srgbClr val="0070C0"/>
                </a:solidFill>
                <a:latin typeface="Arial"/>
                <a:cs typeface="Arial"/>
                <a:sym typeface="Helvetica Neue"/>
              </a:rPr>
              <a:t>4</a:t>
            </a:r>
            <a:endParaRPr kumimoji="0" lang="pt-BR" sz="20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8D51CE5-721C-E9ED-FAA5-D18089A06F64}"/>
              </a:ext>
            </a:extLst>
          </p:cNvPr>
          <p:cNvSpPr txBox="1"/>
          <p:nvPr/>
        </p:nvSpPr>
        <p:spPr>
          <a:xfrm>
            <a:off x="10269699" y="-13607"/>
            <a:ext cx="1915914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sng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Resp.: </a:t>
            </a:r>
          </a:p>
          <a:p>
            <a:pPr algn="ctr">
              <a:defRPr/>
            </a:pPr>
            <a:r>
              <a:rPr lang="pt-BR" u="sng" dirty="0">
                <a:solidFill>
                  <a:srgbClr val="0070C0"/>
                </a:solidFill>
                <a:latin typeface="Aptos" panose="02110004020202020204"/>
              </a:rPr>
              <a:t>Gabriel Donizetti</a:t>
            </a:r>
            <a:endParaRPr kumimoji="0" lang="pt-BR" sz="1800" b="0" i="0" u="sng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3C9A3540-823E-8912-4A63-C9316EAB0F0B}"/>
              </a:ext>
            </a:extLst>
          </p:cNvPr>
          <p:cNvSpPr txBox="1"/>
          <p:nvPr/>
        </p:nvSpPr>
        <p:spPr>
          <a:xfrm>
            <a:off x="1608665" y="78308"/>
            <a:ext cx="8669433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cs typeface="Arial"/>
              </a:rPr>
              <a:t>XPTO4: </a:t>
            </a:r>
            <a:r>
              <a:rPr lang="pt-BR" sz="1600" dirty="0">
                <a:solidFill>
                  <a:srgbClr val="0070C0"/>
                </a:solidFill>
                <a:latin typeface="Aptos"/>
                <a:cs typeface="Arial"/>
              </a:rPr>
              <a:t>Plano de execução e levantamento de custos do projeto</a:t>
            </a:r>
          </a:p>
          <a:p>
            <a:pPr>
              <a:defRPr/>
            </a:pPr>
            <a:endParaRPr kumimoji="0" lang="pt-BR" sz="14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4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9FBFEC33-6FB2-47B8-8BAE-B9F79C367583}"/>
              </a:ext>
            </a:extLst>
          </p:cNvPr>
          <p:cNvSpPr txBox="1"/>
          <p:nvPr/>
        </p:nvSpPr>
        <p:spPr>
          <a:xfrm>
            <a:off x="530459" y="1062775"/>
            <a:ext cx="10825843" cy="473244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ct val="114000"/>
              </a:lnSpc>
            </a:pPr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Plano de execução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14000"/>
              </a:lnSpc>
              <a:buFont typeface="Arial,Sans-Serif"/>
              <a:buChar char="•"/>
            </a:pP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1ª Sprint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: Foi proposto 3 alternativas para melhorar o controle de ferramentas com vantagens e desvantagens.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14000"/>
              </a:lnSpc>
              <a:buFont typeface="Arial,Sans-Serif"/>
              <a:buChar char="•"/>
            </a:pP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2º Sprint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: Desenvolver o projeto, seguindo o método selecionado, detalhando desenho técnico e tabela de custos.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14000"/>
              </a:lnSpc>
              <a:buFont typeface="Arial,Sans-Serif"/>
              <a:buChar char="•"/>
            </a:pP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3º Sprint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: Ajustes finais do projeto de acordo com o </a:t>
            </a:r>
            <a:r>
              <a:rPr lang="pt-BR" sz="2000" i="1" dirty="0">
                <a:latin typeface="Arial" panose="020B0604020202020204" pitchFamily="34" charset="0"/>
                <a:cs typeface="Arial" panose="020B0604020202020204" pitchFamily="34" charset="0"/>
              </a:rPr>
              <a:t>feedback 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do cliente.</a:t>
            </a:r>
          </a:p>
          <a:p>
            <a:pPr algn="just">
              <a:lnSpc>
                <a:spcPct val="114000"/>
              </a:lnSpc>
            </a:pPr>
            <a:endParaRPr lang="pt-B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4000"/>
              </a:lnSpc>
            </a:pPr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Marcos/Entregáveis Principais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Sprint 1: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Definição da modificação do carrinho por um painel com 3 alternativas de solução para o controle das ferramentas com vantagens e desvantagens.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Sprint 2: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Entrega de desenho técnico do painel e método de controle.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Sprint 3: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Ajustes finais e validação com o cliente.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Encerramento: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Apresentação final do projeto.</a:t>
            </a:r>
            <a:endParaRPr lang="pt-BR" b="1" dirty="0">
              <a:latin typeface="Arial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51339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0820D-8ED1-0C11-F2EF-F95CC4A73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Linha">
            <a:extLst>
              <a:ext uri="{FF2B5EF4-FFF2-40B4-BE49-F238E27FC236}">
                <a16:creationId xmlns:a16="http://schemas.microsoft.com/office/drawing/2014/main" id="{089DF911-3E00-1963-3742-D4039E63C230}"/>
              </a:ext>
            </a:extLst>
          </p:cNvPr>
          <p:cNvSpPr/>
          <p:nvPr/>
        </p:nvSpPr>
        <p:spPr>
          <a:xfrm flipV="1">
            <a:off x="252919" y="486960"/>
            <a:ext cx="8852170" cy="30053"/>
          </a:xfrm>
          <a:prstGeom prst="line">
            <a:avLst/>
          </a:prstGeom>
          <a:ln w="57150">
            <a:gradFill flip="none" rotWithShape="1">
              <a:gsLst>
                <a:gs pos="41964">
                  <a:srgbClr val="B2CBFF">
                    <a:alpha val="85000"/>
                  </a:srgbClr>
                </a:gs>
                <a:gs pos="62953">
                  <a:srgbClr val="93B5FF"/>
                </a:gs>
                <a:gs pos="27972">
                  <a:srgbClr val="C7D9FF"/>
                </a:gs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  <a:miter lim="400000"/>
          </a:ln>
        </p:spPr>
        <p:txBody>
          <a:bodyPr lIns="25400" tIns="25400" rIns="25400" bIns="254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00163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B3033A-722F-A9BD-D364-72F12ABF7595}"/>
              </a:ext>
            </a:extLst>
          </p:cNvPr>
          <p:cNvSpPr txBox="1"/>
          <p:nvPr/>
        </p:nvSpPr>
        <p:spPr>
          <a:xfrm>
            <a:off x="204278" y="125347"/>
            <a:ext cx="1404389" cy="4103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lvl="0" indent="0" algn="l" defTabSz="2438338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cs typeface="Arial"/>
                <a:sym typeface="Helvetica Neue"/>
              </a:rPr>
              <a:t>Entrega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cs typeface="Arial"/>
                <a:sym typeface="Helvetica Neue"/>
              </a:rPr>
              <a:t> </a:t>
            </a:r>
            <a:r>
              <a:rPr lang="en-US" sz="2000" b="1" dirty="0">
                <a:solidFill>
                  <a:srgbClr val="0070C0"/>
                </a:solidFill>
                <a:latin typeface="Arial"/>
                <a:cs typeface="Arial"/>
                <a:sym typeface="Helvetica Neue"/>
              </a:rPr>
              <a:t>5</a:t>
            </a:r>
            <a:endParaRPr kumimoji="0" lang="pt-BR" sz="20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AB99953-B323-DC21-52E0-76AB118FE6AF}"/>
              </a:ext>
            </a:extLst>
          </p:cNvPr>
          <p:cNvSpPr txBox="1"/>
          <p:nvPr/>
        </p:nvSpPr>
        <p:spPr>
          <a:xfrm>
            <a:off x="10269699" y="-13607"/>
            <a:ext cx="1915914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sng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Resp.: </a:t>
            </a:r>
          </a:p>
          <a:p>
            <a:pPr algn="ctr">
              <a:defRPr/>
            </a:pPr>
            <a:r>
              <a:rPr lang="pt-BR" u="sng" dirty="0">
                <a:solidFill>
                  <a:srgbClr val="0070C0"/>
                </a:solidFill>
                <a:latin typeface="Aptos" panose="02110004020202020204"/>
              </a:rPr>
              <a:t>Tainan</a:t>
            </a:r>
            <a:endParaRPr lang="pt-BR" sz="1800" b="0" i="0" u="sng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ptos" panose="02110004020202020204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225875C6-2FC2-261C-1B2E-15E84FCB6795}"/>
              </a:ext>
            </a:extLst>
          </p:cNvPr>
          <p:cNvSpPr txBox="1"/>
          <p:nvPr/>
        </p:nvSpPr>
        <p:spPr>
          <a:xfrm>
            <a:off x="1608666" y="65216"/>
            <a:ext cx="8669433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cs typeface="Arial"/>
              </a:rPr>
              <a:t>XPTO5: </a:t>
            </a:r>
            <a:r>
              <a:rPr lang="pt-BR" sz="1600" dirty="0">
                <a:solidFill>
                  <a:srgbClr val="0070C0"/>
                </a:solidFill>
                <a:latin typeface="Aptos"/>
                <a:cs typeface="Arial"/>
              </a:rPr>
              <a:t>Definição do painel </a:t>
            </a:r>
            <a:r>
              <a: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ptos"/>
                <a:cs typeface="Arial"/>
              </a:rPr>
              <a:t>de </a:t>
            </a:r>
            <a:r>
              <a:rPr lang="pt-BR" sz="1600" dirty="0">
                <a:solidFill>
                  <a:srgbClr val="0070C0"/>
                </a:solidFill>
                <a:latin typeface="Aptos"/>
                <a:cs typeface="Arial"/>
              </a:rPr>
              <a:t>ferramentas e ferramental</a:t>
            </a:r>
            <a:endParaRPr kumimoji="0" lang="pt-BR" sz="14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84A56307-09A9-1852-2E39-433426410C89}"/>
              </a:ext>
            </a:extLst>
          </p:cNvPr>
          <p:cNvSpPr txBox="1"/>
          <p:nvPr/>
        </p:nvSpPr>
        <p:spPr>
          <a:xfrm>
            <a:off x="1174366" y="763535"/>
            <a:ext cx="953803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400" b="1" dirty="0">
                <a:latin typeface="Arial"/>
                <a:cs typeface="Times New Roman"/>
              </a:rPr>
              <a:t>Painel de ferramentas, aplicado a uma empresa aeronáutica: </a:t>
            </a:r>
          </a:p>
        </p:txBody>
      </p:sp>
      <p:pic>
        <p:nvPicPr>
          <p:cNvPr id="3" name="Imagem 2" descr="Uma imagem contendo no interior, computador, edifício, teclado&#10;&#10;O conteúdo gerado por IA pode estar incorreto.">
            <a:extLst>
              <a:ext uri="{FF2B5EF4-FFF2-40B4-BE49-F238E27FC236}">
                <a16:creationId xmlns:a16="http://schemas.microsoft.com/office/drawing/2014/main" id="{9C9AF070-9DCA-70E1-E826-377FE6E437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8463" y="1391581"/>
            <a:ext cx="8017221" cy="5209626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0D52E59E-7AC3-43E9-841B-68D81AB853BF}"/>
              </a:ext>
            </a:extLst>
          </p:cNvPr>
          <p:cNvSpPr/>
          <p:nvPr/>
        </p:nvSpPr>
        <p:spPr>
          <a:xfrm>
            <a:off x="6067425" y="4158853"/>
            <a:ext cx="250031" cy="92869"/>
          </a:xfrm>
          <a:prstGeom prst="rect">
            <a:avLst/>
          </a:prstGeom>
          <a:solidFill>
            <a:srgbClr val="E3D8C4"/>
          </a:solidFill>
          <a:ln>
            <a:solidFill>
              <a:srgbClr val="E3D8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8871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F0C6C-6676-2946-BD2D-9FD1BDE74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Linha">
            <a:extLst>
              <a:ext uri="{FF2B5EF4-FFF2-40B4-BE49-F238E27FC236}">
                <a16:creationId xmlns:a16="http://schemas.microsoft.com/office/drawing/2014/main" id="{C0A179BE-B250-7BFE-5213-492FE62C2F27}"/>
              </a:ext>
            </a:extLst>
          </p:cNvPr>
          <p:cNvSpPr/>
          <p:nvPr/>
        </p:nvSpPr>
        <p:spPr>
          <a:xfrm flipV="1">
            <a:off x="252919" y="486960"/>
            <a:ext cx="8852170" cy="30053"/>
          </a:xfrm>
          <a:prstGeom prst="line">
            <a:avLst/>
          </a:prstGeom>
          <a:ln w="57150">
            <a:gradFill flip="none" rotWithShape="1">
              <a:gsLst>
                <a:gs pos="41964">
                  <a:srgbClr val="B2CBFF">
                    <a:alpha val="85000"/>
                  </a:srgbClr>
                </a:gs>
                <a:gs pos="62953">
                  <a:srgbClr val="93B5FF"/>
                </a:gs>
                <a:gs pos="27972">
                  <a:srgbClr val="C7D9FF"/>
                </a:gs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  <a:miter lim="400000"/>
          </a:ln>
        </p:spPr>
        <p:txBody>
          <a:bodyPr lIns="25400" tIns="25400" rIns="25400" bIns="254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00163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0CE261-13A9-364E-9462-B1182BEDC5D9}"/>
              </a:ext>
            </a:extLst>
          </p:cNvPr>
          <p:cNvSpPr txBox="1"/>
          <p:nvPr/>
        </p:nvSpPr>
        <p:spPr>
          <a:xfrm>
            <a:off x="204278" y="125347"/>
            <a:ext cx="1404389" cy="4103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lvl="0" indent="0" algn="l" defTabSz="2438338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cs typeface="Arial"/>
                <a:sym typeface="Helvetica Neue"/>
              </a:rPr>
              <a:t>Entrega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cs typeface="Arial"/>
                <a:sym typeface="Helvetica Neue"/>
              </a:rPr>
              <a:t> </a:t>
            </a:r>
            <a:r>
              <a:rPr lang="en-US" sz="2000" b="1" dirty="0">
                <a:solidFill>
                  <a:srgbClr val="0070C0"/>
                </a:solidFill>
                <a:latin typeface="Arial"/>
                <a:cs typeface="Arial"/>
                <a:sym typeface="Helvetica Neue"/>
              </a:rPr>
              <a:t>6</a:t>
            </a:r>
            <a:endParaRPr kumimoji="0" lang="pt-BR" sz="20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340699E-32EB-4B43-60D0-9BF889F85F22}"/>
              </a:ext>
            </a:extLst>
          </p:cNvPr>
          <p:cNvSpPr txBox="1"/>
          <p:nvPr/>
        </p:nvSpPr>
        <p:spPr>
          <a:xfrm>
            <a:off x="10269699" y="-13607"/>
            <a:ext cx="1915914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sng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Resp.: </a:t>
            </a:r>
          </a:p>
          <a:p>
            <a:pPr algn="ctr">
              <a:defRPr/>
            </a:pPr>
            <a:r>
              <a:rPr lang="pt-BR" u="sng" dirty="0">
                <a:solidFill>
                  <a:srgbClr val="0070C0"/>
                </a:solidFill>
                <a:latin typeface="Aptos" panose="02110004020202020204"/>
              </a:rPr>
              <a:t>Raphael</a:t>
            </a:r>
            <a:endParaRPr lang="pt-BR" sz="1800" b="0" i="0" u="sng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ptos" panose="02110004020202020204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5492C699-1FB8-DA55-EFE5-707505DC7F30}"/>
              </a:ext>
            </a:extLst>
          </p:cNvPr>
          <p:cNvSpPr txBox="1"/>
          <p:nvPr/>
        </p:nvSpPr>
        <p:spPr>
          <a:xfrm>
            <a:off x="1600266" y="56964"/>
            <a:ext cx="8669433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kumimoji="0" lang="pt-BR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cs typeface="Arial"/>
              </a:rPr>
              <a:t>XPTO6: </a:t>
            </a:r>
            <a:r>
              <a:rPr lang="pt-BR" sz="2000" dirty="0">
                <a:solidFill>
                  <a:srgbClr val="0070C0"/>
                </a:solidFill>
                <a:latin typeface="Aptos"/>
                <a:cs typeface="Arial"/>
              </a:rPr>
              <a:t>Desenho técnico e dimensões</a:t>
            </a:r>
            <a:endParaRPr kumimoji="0" lang="pt-BR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C82F26E-4162-4116-99AF-AD221A5B2F2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555" b="3018"/>
          <a:stretch/>
        </p:blipFill>
        <p:spPr>
          <a:xfrm>
            <a:off x="1204465" y="535716"/>
            <a:ext cx="9461034" cy="6322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958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F0C6C-6676-2946-BD2D-9FD1BDE74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Linha">
            <a:extLst>
              <a:ext uri="{FF2B5EF4-FFF2-40B4-BE49-F238E27FC236}">
                <a16:creationId xmlns:a16="http://schemas.microsoft.com/office/drawing/2014/main" id="{C0A179BE-B250-7BFE-5213-492FE62C2F27}"/>
              </a:ext>
            </a:extLst>
          </p:cNvPr>
          <p:cNvSpPr/>
          <p:nvPr/>
        </p:nvSpPr>
        <p:spPr>
          <a:xfrm flipV="1">
            <a:off x="252919" y="486960"/>
            <a:ext cx="8852170" cy="30053"/>
          </a:xfrm>
          <a:prstGeom prst="line">
            <a:avLst/>
          </a:prstGeom>
          <a:ln w="57150">
            <a:gradFill flip="none" rotWithShape="1">
              <a:gsLst>
                <a:gs pos="41964">
                  <a:srgbClr val="B2CBFF">
                    <a:alpha val="85000"/>
                  </a:srgbClr>
                </a:gs>
                <a:gs pos="62953">
                  <a:srgbClr val="93B5FF"/>
                </a:gs>
                <a:gs pos="27972">
                  <a:srgbClr val="C7D9FF"/>
                </a:gs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  <a:miter lim="400000"/>
          </a:ln>
        </p:spPr>
        <p:txBody>
          <a:bodyPr lIns="25400" tIns="25400" rIns="25400" bIns="254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00163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0CE261-13A9-364E-9462-B1182BEDC5D9}"/>
              </a:ext>
            </a:extLst>
          </p:cNvPr>
          <p:cNvSpPr txBox="1"/>
          <p:nvPr/>
        </p:nvSpPr>
        <p:spPr>
          <a:xfrm>
            <a:off x="204278" y="125347"/>
            <a:ext cx="1404389" cy="4103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lvl="0" indent="0" algn="l" defTabSz="2438338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cs typeface="Arial"/>
                <a:sym typeface="Helvetica Neue"/>
              </a:rPr>
              <a:t>Entrega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cs typeface="Arial"/>
                <a:sym typeface="Helvetica Neue"/>
              </a:rPr>
              <a:t> </a:t>
            </a:r>
            <a:r>
              <a:rPr lang="en-US" sz="2000" b="1" dirty="0">
                <a:solidFill>
                  <a:srgbClr val="0070C0"/>
                </a:solidFill>
                <a:latin typeface="Arial"/>
                <a:cs typeface="Arial"/>
                <a:sym typeface="Helvetica Neue"/>
              </a:rPr>
              <a:t>6</a:t>
            </a:r>
            <a:endParaRPr kumimoji="0" lang="pt-BR" sz="20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340699E-32EB-4B43-60D0-9BF889F85F22}"/>
              </a:ext>
            </a:extLst>
          </p:cNvPr>
          <p:cNvSpPr txBox="1"/>
          <p:nvPr/>
        </p:nvSpPr>
        <p:spPr>
          <a:xfrm>
            <a:off x="10269699" y="-13607"/>
            <a:ext cx="1915914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sng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Resp.: </a:t>
            </a:r>
          </a:p>
          <a:p>
            <a:pPr algn="ctr">
              <a:defRPr/>
            </a:pPr>
            <a:r>
              <a:rPr lang="pt-BR" u="sng" dirty="0">
                <a:solidFill>
                  <a:srgbClr val="0070C0"/>
                </a:solidFill>
                <a:latin typeface="Aptos" panose="02110004020202020204"/>
              </a:rPr>
              <a:t>Raphael</a:t>
            </a:r>
            <a:endParaRPr lang="pt-BR" sz="1800" b="0" i="0" u="sng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ptos" panose="02110004020202020204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451B7A48-1205-4A95-B82D-A62148E5E2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232" t="5927" r="9374" b="6583"/>
          <a:stretch/>
        </p:blipFill>
        <p:spPr>
          <a:xfrm>
            <a:off x="1508896" y="535716"/>
            <a:ext cx="8852171" cy="6284023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B3F3DDA3-A76B-41A6-B0D3-054E1DF01918}"/>
              </a:ext>
            </a:extLst>
          </p:cNvPr>
          <p:cNvSpPr txBox="1"/>
          <p:nvPr/>
        </p:nvSpPr>
        <p:spPr>
          <a:xfrm>
            <a:off x="1600266" y="56964"/>
            <a:ext cx="8669433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kumimoji="0" lang="pt-BR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cs typeface="Arial"/>
              </a:rPr>
              <a:t>XPTO6: </a:t>
            </a:r>
            <a:r>
              <a:rPr lang="pt-BR" sz="2000" dirty="0">
                <a:solidFill>
                  <a:srgbClr val="0070C0"/>
                </a:solidFill>
                <a:latin typeface="Aptos"/>
                <a:cs typeface="Arial"/>
              </a:rPr>
              <a:t>Desenho técnico e dimensões</a:t>
            </a:r>
            <a:endParaRPr kumimoji="0" lang="pt-BR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87789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4CEE92-A810-E9BA-6221-7A8B145830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Linha">
            <a:extLst>
              <a:ext uri="{FF2B5EF4-FFF2-40B4-BE49-F238E27FC236}">
                <a16:creationId xmlns:a16="http://schemas.microsoft.com/office/drawing/2014/main" id="{85404806-6DA4-AC8F-C37A-15B7C6F001A8}"/>
              </a:ext>
            </a:extLst>
          </p:cNvPr>
          <p:cNvSpPr/>
          <p:nvPr/>
        </p:nvSpPr>
        <p:spPr>
          <a:xfrm flipV="1">
            <a:off x="387804" y="455920"/>
            <a:ext cx="8852170" cy="30053"/>
          </a:xfrm>
          <a:prstGeom prst="line">
            <a:avLst/>
          </a:prstGeom>
          <a:ln w="57150">
            <a:gradFill flip="none" rotWithShape="1">
              <a:gsLst>
                <a:gs pos="41964">
                  <a:srgbClr val="B2CBFF">
                    <a:alpha val="85000"/>
                  </a:srgbClr>
                </a:gs>
                <a:gs pos="62953">
                  <a:srgbClr val="93B5FF"/>
                </a:gs>
                <a:gs pos="27972">
                  <a:srgbClr val="C7D9FF"/>
                </a:gs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  <a:miter lim="400000"/>
          </a:ln>
        </p:spPr>
        <p:txBody>
          <a:bodyPr lIns="25400" tIns="25400" rIns="25400" bIns="254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00163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1E13AE-C8AE-E014-DE84-527927BEF565}"/>
              </a:ext>
            </a:extLst>
          </p:cNvPr>
          <p:cNvSpPr txBox="1"/>
          <p:nvPr/>
        </p:nvSpPr>
        <p:spPr>
          <a:xfrm>
            <a:off x="204278" y="125347"/>
            <a:ext cx="1404389" cy="4103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lvl="0" indent="0" algn="l" defTabSz="2438338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Helvetica Neue"/>
              </a:rPr>
              <a:t>Entrega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Helvetica Neue"/>
              </a:rPr>
              <a:t> 2</a:t>
            </a:r>
            <a:endParaRPr kumimoji="0" lang="pt-BR" sz="20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7520504-6461-1EA2-1870-36C90A8CAD96}"/>
              </a:ext>
            </a:extLst>
          </p:cNvPr>
          <p:cNvSpPr txBox="1"/>
          <p:nvPr/>
        </p:nvSpPr>
        <p:spPr>
          <a:xfrm>
            <a:off x="10364949" y="0"/>
            <a:ext cx="1766236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sng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Resp.: </a:t>
            </a:r>
          </a:p>
          <a:p>
            <a:pPr algn="ctr">
              <a:defRPr/>
            </a:pPr>
            <a:r>
              <a:rPr lang="pt-BR" u="sng" dirty="0">
                <a:solidFill>
                  <a:srgbClr val="0070C0"/>
                </a:solidFill>
                <a:latin typeface="Aptos" panose="02110004020202020204"/>
              </a:rPr>
              <a:t>Franciel</a:t>
            </a:r>
            <a:endParaRPr kumimoji="0" lang="pt-BR" sz="1800" b="0" i="0" u="sng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3E87FDD1-1688-6AB7-9A41-9AD44BF9905C}"/>
              </a:ext>
            </a:extLst>
          </p:cNvPr>
          <p:cNvSpPr txBox="1"/>
          <p:nvPr/>
        </p:nvSpPr>
        <p:spPr>
          <a:xfrm>
            <a:off x="1608667" y="125347"/>
            <a:ext cx="8669433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cs typeface="Arial"/>
              </a:rPr>
              <a:t>XPTO2: </a:t>
            </a:r>
            <a:r>
              <a:rPr lang="pt-BR" sz="1600" dirty="0">
                <a:solidFill>
                  <a:srgbClr val="0070C0"/>
                </a:solidFill>
                <a:latin typeface="Aptos"/>
                <a:cs typeface="Arial"/>
              </a:rPr>
              <a:t> Adaptações no painel e processo de pintura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33F13FD-7723-AECC-89CD-837A0CB5D0E0}"/>
              </a:ext>
            </a:extLst>
          </p:cNvPr>
          <p:cNvSpPr txBox="1"/>
          <p:nvPr/>
        </p:nvSpPr>
        <p:spPr>
          <a:xfrm>
            <a:off x="387804" y="619528"/>
            <a:ext cx="1141639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800" b="1" dirty="0">
                <a:latin typeface="Arial"/>
                <a:cs typeface="Arial"/>
              </a:rPr>
              <a:t>Componentes do painel</a:t>
            </a:r>
            <a:endParaRPr lang="pt-BR" sz="2400" b="1" dirty="0">
              <a:latin typeface="Arial"/>
              <a:cs typeface="Arial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A184E653-4374-483D-9343-C587CCA0D53D}"/>
              </a:ext>
            </a:extLst>
          </p:cNvPr>
          <p:cNvSpPr txBox="1"/>
          <p:nvPr/>
        </p:nvSpPr>
        <p:spPr>
          <a:xfrm>
            <a:off x="387804" y="1223305"/>
            <a:ext cx="6750933" cy="26776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Características</a:t>
            </a:r>
            <a:endParaRPr lang="pt-BR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Portas de acrílico.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Moldura metálica no acrílico.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Kit para portas de correr sobrepostas.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Puxadores.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Fechadura cremona.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28018DBB-B071-48A8-8843-45F17B69AE0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7" t="9578" r="6199" b="9175"/>
          <a:stretch/>
        </p:blipFill>
        <p:spPr bwMode="auto">
          <a:xfrm>
            <a:off x="525824" y="4286473"/>
            <a:ext cx="2165685" cy="1933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E85BE275-9256-494E-9500-6512E4E30DA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088" b="30491"/>
          <a:stretch/>
        </p:blipFill>
        <p:spPr bwMode="auto">
          <a:xfrm>
            <a:off x="3238500" y="4992080"/>
            <a:ext cx="2857500" cy="11550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>
            <a:extLst>
              <a:ext uri="{FF2B5EF4-FFF2-40B4-BE49-F238E27FC236}">
                <a16:creationId xmlns:a16="http://schemas.microsoft.com/office/drawing/2014/main" id="{B16D3C2F-237D-4760-92B4-5CEF0A17D1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7293365">
            <a:off x="4926300" y="1898611"/>
            <a:ext cx="3576631" cy="3576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Painel Para Ferramentas 970 x 640 MM com 48 Ganchos 90414 PRESTO">
            <a:extLst>
              <a:ext uri="{FF2B5EF4-FFF2-40B4-BE49-F238E27FC236}">
                <a16:creationId xmlns:a16="http://schemas.microsoft.com/office/drawing/2014/main" id="{C80D5FEA-CBA8-4C38-96A0-390374A15DC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32" t="13710" r="2815" b="12285"/>
          <a:stretch/>
        </p:blipFill>
        <p:spPr bwMode="auto">
          <a:xfrm flipH="1">
            <a:off x="7398443" y="1120676"/>
            <a:ext cx="4469790" cy="3593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1CE49195-69A7-4E42-AADE-02896EAAF32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34" t="6766" r="35775" b="6403"/>
          <a:stretch/>
        </p:blipFill>
        <p:spPr bwMode="auto">
          <a:xfrm flipH="1">
            <a:off x="7333232" y="4343702"/>
            <a:ext cx="720787" cy="2252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BD68804E-79A1-4786-A86D-3676BBEB07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760" t="12038" r="35201" b="11578"/>
          <a:stretch/>
        </p:blipFill>
        <p:spPr bwMode="auto">
          <a:xfrm rot="16840304">
            <a:off x="9599505" y="3794724"/>
            <a:ext cx="1075978" cy="3418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0095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4CEE92-A810-E9BA-6221-7A8B145830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Linha">
            <a:extLst>
              <a:ext uri="{FF2B5EF4-FFF2-40B4-BE49-F238E27FC236}">
                <a16:creationId xmlns:a16="http://schemas.microsoft.com/office/drawing/2014/main" id="{85404806-6DA4-AC8F-C37A-15B7C6F001A8}"/>
              </a:ext>
            </a:extLst>
          </p:cNvPr>
          <p:cNvSpPr/>
          <p:nvPr/>
        </p:nvSpPr>
        <p:spPr>
          <a:xfrm flipV="1">
            <a:off x="387804" y="455920"/>
            <a:ext cx="8852170" cy="30053"/>
          </a:xfrm>
          <a:prstGeom prst="line">
            <a:avLst/>
          </a:prstGeom>
          <a:ln w="57150">
            <a:gradFill flip="none" rotWithShape="1">
              <a:gsLst>
                <a:gs pos="41964">
                  <a:srgbClr val="B2CBFF">
                    <a:alpha val="85000"/>
                  </a:srgbClr>
                </a:gs>
                <a:gs pos="62953">
                  <a:srgbClr val="93B5FF"/>
                </a:gs>
                <a:gs pos="27972">
                  <a:srgbClr val="C7D9FF"/>
                </a:gs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  <a:miter lim="400000"/>
          </a:ln>
        </p:spPr>
        <p:txBody>
          <a:bodyPr lIns="25400" tIns="25400" rIns="25400" bIns="254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00163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1E13AE-C8AE-E014-DE84-527927BEF565}"/>
              </a:ext>
            </a:extLst>
          </p:cNvPr>
          <p:cNvSpPr txBox="1"/>
          <p:nvPr/>
        </p:nvSpPr>
        <p:spPr>
          <a:xfrm>
            <a:off x="204278" y="125347"/>
            <a:ext cx="1404389" cy="4103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lvl="0" indent="0" algn="l" defTabSz="2438338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Helvetica Neue"/>
              </a:rPr>
              <a:t>Entrega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Helvetica Neue"/>
              </a:rPr>
              <a:t> 2</a:t>
            </a:r>
            <a:endParaRPr kumimoji="0" lang="pt-BR" sz="20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7520504-6461-1EA2-1870-36C90A8CAD96}"/>
              </a:ext>
            </a:extLst>
          </p:cNvPr>
          <p:cNvSpPr txBox="1"/>
          <p:nvPr/>
        </p:nvSpPr>
        <p:spPr>
          <a:xfrm>
            <a:off x="10364949" y="0"/>
            <a:ext cx="1766236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sng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Resp.: </a:t>
            </a:r>
          </a:p>
          <a:p>
            <a:pPr algn="ctr">
              <a:defRPr/>
            </a:pPr>
            <a:r>
              <a:rPr lang="pt-BR" u="sng" dirty="0">
                <a:solidFill>
                  <a:srgbClr val="0070C0"/>
                </a:solidFill>
                <a:latin typeface="Aptos" panose="02110004020202020204"/>
              </a:rPr>
              <a:t>Franciel</a:t>
            </a:r>
            <a:endParaRPr kumimoji="0" lang="pt-BR" sz="1800" b="0" i="0" u="sng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A184E653-4374-483D-9343-C587CCA0D53D}"/>
              </a:ext>
            </a:extLst>
          </p:cNvPr>
          <p:cNvSpPr txBox="1"/>
          <p:nvPr/>
        </p:nvSpPr>
        <p:spPr>
          <a:xfrm>
            <a:off x="315613" y="1203174"/>
            <a:ext cx="7841797" cy="49613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130000"/>
              </a:lnSpc>
            </a:pP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Processo de Pintura</a:t>
            </a:r>
          </a:p>
          <a:p>
            <a:pPr algn="ctr">
              <a:lnSpc>
                <a:spcPct val="130000"/>
              </a:lnSpc>
            </a:pPr>
            <a:endParaRPr lang="pt-BR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just">
              <a:lnSpc>
                <a:spcPct val="130000"/>
              </a:lnSpc>
              <a:buFont typeface="+mj-lt"/>
              <a:buAutoNum type="arabicPeriod"/>
            </a:pPr>
            <a:r>
              <a:rPr lang="pt-BR" sz="2200" dirty="0">
                <a:latin typeface="Arial" panose="020B0604020202020204" pitchFamily="34" charset="0"/>
                <a:cs typeface="Arial" panose="020B0604020202020204" pitchFamily="34" charset="0"/>
              </a:rPr>
              <a:t>Lixamento</a:t>
            </a:r>
          </a:p>
          <a:p>
            <a:pPr marL="457200" indent="-457200" algn="just">
              <a:lnSpc>
                <a:spcPct val="130000"/>
              </a:lnSpc>
              <a:buFont typeface="+mj-lt"/>
              <a:buAutoNum type="arabicPeriod"/>
            </a:pPr>
            <a:r>
              <a:rPr lang="pt-BR" sz="2200" dirty="0">
                <a:latin typeface="Arial" panose="020B0604020202020204" pitchFamily="34" charset="0"/>
                <a:cs typeface="Arial" panose="020B0604020202020204" pitchFamily="34" charset="0"/>
              </a:rPr>
              <a:t>Limpeza</a:t>
            </a:r>
          </a:p>
          <a:p>
            <a:pPr marL="457200" indent="-457200" algn="just">
              <a:lnSpc>
                <a:spcPct val="130000"/>
              </a:lnSpc>
              <a:buFont typeface="+mj-lt"/>
              <a:buAutoNum type="arabicPeriod"/>
            </a:pPr>
            <a:r>
              <a:rPr lang="pt-BR" sz="2200" dirty="0">
                <a:latin typeface="Arial" panose="020B0604020202020204" pitchFamily="34" charset="0"/>
                <a:cs typeface="Arial" panose="020B0604020202020204" pitchFamily="34" charset="0"/>
              </a:rPr>
              <a:t>Aplicação do Primer a base de poliéster</a:t>
            </a:r>
          </a:p>
          <a:p>
            <a:pPr marL="457200" indent="-457200" algn="just">
              <a:lnSpc>
                <a:spcPct val="130000"/>
              </a:lnSpc>
              <a:buFont typeface="+mj-lt"/>
              <a:buAutoNum type="arabicPeriod"/>
            </a:pPr>
            <a:r>
              <a:rPr lang="pt-BR" sz="2200" dirty="0">
                <a:latin typeface="Arial" panose="020B0604020202020204" pitchFamily="34" charset="0"/>
                <a:cs typeface="Arial" panose="020B0604020202020204" pitchFamily="34" charset="0"/>
              </a:rPr>
              <a:t>Pintura na cor de fundo Azul</a:t>
            </a:r>
          </a:p>
          <a:p>
            <a:pPr marL="457200" indent="-457200" algn="just">
              <a:lnSpc>
                <a:spcPct val="130000"/>
              </a:lnSpc>
              <a:buFont typeface="+mj-lt"/>
              <a:buAutoNum type="arabicPeriod"/>
            </a:pPr>
            <a:r>
              <a:rPr lang="pt-BR" sz="2200" dirty="0">
                <a:latin typeface="Arial" panose="020B0604020202020204" pitchFamily="34" charset="0"/>
                <a:cs typeface="Arial" panose="020B0604020202020204" pitchFamily="34" charset="0"/>
              </a:rPr>
              <a:t>Fabricar moldes em papelão para as ferramentas.</a:t>
            </a:r>
          </a:p>
          <a:p>
            <a:pPr marL="457200" indent="-457200" algn="just">
              <a:lnSpc>
                <a:spcPct val="130000"/>
              </a:lnSpc>
              <a:buFont typeface="+mj-lt"/>
              <a:buAutoNum type="arabicPeriod"/>
            </a:pPr>
            <a:r>
              <a:rPr lang="pt-BR" sz="2200" dirty="0">
                <a:latin typeface="Arial" panose="020B0604020202020204" pitchFamily="34" charset="0"/>
                <a:cs typeface="Arial" panose="020B0604020202020204" pitchFamily="34" charset="0"/>
              </a:rPr>
              <a:t>Pintura na cor de destaque laranja</a:t>
            </a:r>
          </a:p>
          <a:p>
            <a:pPr marL="457200" indent="-457200" algn="just">
              <a:lnSpc>
                <a:spcPct val="130000"/>
              </a:lnSpc>
              <a:buFont typeface="+mj-lt"/>
              <a:buAutoNum type="arabicPeriod"/>
            </a:pPr>
            <a:r>
              <a:rPr lang="pt-BR" sz="2200" dirty="0">
                <a:latin typeface="Arial" panose="020B0604020202020204" pitchFamily="34" charset="0"/>
                <a:cs typeface="Arial" panose="020B0604020202020204" pitchFamily="34" charset="0"/>
              </a:rPr>
              <a:t>Aplicar verniz para proteção da pintura</a:t>
            </a:r>
          </a:p>
          <a:p>
            <a:pPr marL="457200" indent="-457200" algn="just">
              <a:lnSpc>
                <a:spcPct val="130000"/>
              </a:lnSpc>
              <a:buFont typeface="+mj-lt"/>
              <a:buAutoNum type="arabicPeriod"/>
            </a:pPr>
            <a:r>
              <a:rPr lang="pt-BR" sz="2200" dirty="0">
                <a:latin typeface="Arial" panose="020B0604020202020204" pitchFamily="34" charset="0"/>
                <a:cs typeface="Arial" panose="020B0604020202020204" pitchFamily="34" charset="0"/>
              </a:rPr>
              <a:t>Secagem e cura.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304B3D48-DA83-4E26-A8B4-1AE85A24740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84" t="9574" r="12063" b="14935"/>
          <a:stretch/>
        </p:blipFill>
        <p:spPr>
          <a:xfrm>
            <a:off x="6810847" y="1313789"/>
            <a:ext cx="4437220" cy="2611395"/>
          </a:xfrm>
          <a:prstGeom prst="rect">
            <a:avLst/>
          </a:prstGeom>
        </p:spPr>
      </p:pic>
      <p:sp>
        <p:nvSpPr>
          <p:cNvPr id="15" name="CaixaDeTexto 14">
            <a:extLst>
              <a:ext uri="{FF2B5EF4-FFF2-40B4-BE49-F238E27FC236}">
                <a16:creationId xmlns:a16="http://schemas.microsoft.com/office/drawing/2014/main" id="{0A427265-3892-45EF-A382-1729909461C8}"/>
              </a:ext>
            </a:extLst>
          </p:cNvPr>
          <p:cNvSpPr txBox="1"/>
          <p:nvPr/>
        </p:nvSpPr>
        <p:spPr>
          <a:xfrm>
            <a:off x="1608667" y="125347"/>
            <a:ext cx="8669433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cs typeface="Arial"/>
              </a:rPr>
              <a:t>XPTO2: </a:t>
            </a:r>
            <a:r>
              <a:rPr lang="pt-BR" sz="1600" dirty="0">
                <a:solidFill>
                  <a:srgbClr val="0070C0"/>
                </a:solidFill>
                <a:latin typeface="Aptos"/>
                <a:cs typeface="Arial"/>
              </a:rPr>
              <a:t> Adaptações no painel e processo de pintura</a:t>
            </a:r>
          </a:p>
        </p:txBody>
      </p:sp>
    </p:spTree>
    <p:extLst>
      <p:ext uri="{BB962C8B-B14F-4D97-AF65-F5344CB8AC3E}">
        <p14:creationId xmlns:p14="http://schemas.microsoft.com/office/powerpoint/2010/main" val="2445677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4CEE92-A810-E9BA-6221-7A8B145830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Linha">
            <a:extLst>
              <a:ext uri="{FF2B5EF4-FFF2-40B4-BE49-F238E27FC236}">
                <a16:creationId xmlns:a16="http://schemas.microsoft.com/office/drawing/2014/main" id="{85404806-6DA4-AC8F-C37A-15B7C6F001A8}"/>
              </a:ext>
            </a:extLst>
          </p:cNvPr>
          <p:cNvSpPr/>
          <p:nvPr/>
        </p:nvSpPr>
        <p:spPr>
          <a:xfrm flipV="1">
            <a:off x="252919" y="486960"/>
            <a:ext cx="8852170" cy="30053"/>
          </a:xfrm>
          <a:prstGeom prst="line">
            <a:avLst/>
          </a:prstGeom>
          <a:ln w="57150">
            <a:gradFill flip="none" rotWithShape="1">
              <a:gsLst>
                <a:gs pos="41964">
                  <a:srgbClr val="B2CBFF">
                    <a:alpha val="85000"/>
                  </a:srgbClr>
                </a:gs>
                <a:gs pos="62953">
                  <a:srgbClr val="93B5FF"/>
                </a:gs>
                <a:gs pos="27972">
                  <a:srgbClr val="C7D9FF"/>
                </a:gs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  <a:miter lim="400000"/>
          </a:ln>
        </p:spPr>
        <p:txBody>
          <a:bodyPr lIns="25400" tIns="25400" rIns="25400" bIns="254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00163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1E13AE-C8AE-E014-DE84-527927BEF565}"/>
              </a:ext>
            </a:extLst>
          </p:cNvPr>
          <p:cNvSpPr txBox="1"/>
          <p:nvPr/>
        </p:nvSpPr>
        <p:spPr>
          <a:xfrm>
            <a:off x="204278" y="125347"/>
            <a:ext cx="1404389" cy="4103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lvl="0" indent="0" algn="l" defTabSz="2438338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Helvetica Neue"/>
              </a:rPr>
              <a:t>Entrega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Helvetica Neue"/>
              </a:rPr>
              <a:t> 3</a:t>
            </a:r>
            <a:endParaRPr kumimoji="0" lang="pt-BR" sz="20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7520504-6461-1EA2-1870-36C90A8CAD96}"/>
              </a:ext>
            </a:extLst>
          </p:cNvPr>
          <p:cNvSpPr txBox="1"/>
          <p:nvPr/>
        </p:nvSpPr>
        <p:spPr>
          <a:xfrm>
            <a:off x="10364949" y="0"/>
            <a:ext cx="1766236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sng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Resp.: </a:t>
            </a:r>
          </a:p>
          <a:p>
            <a:pPr algn="ctr">
              <a:defRPr/>
            </a:pPr>
            <a:r>
              <a:rPr lang="pt-BR" u="sng" dirty="0">
                <a:solidFill>
                  <a:srgbClr val="0070C0"/>
                </a:solidFill>
                <a:latin typeface="Aptos" panose="02110004020202020204"/>
              </a:rPr>
              <a:t>Gustavo</a:t>
            </a:r>
            <a:endParaRPr kumimoji="0" lang="pt-BR" sz="1800" b="0" i="0" u="sng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3E87FDD1-1688-6AB7-9A41-9AD44BF9905C}"/>
              </a:ext>
            </a:extLst>
          </p:cNvPr>
          <p:cNvSpPr txBox="1"/>
          <p:nvPr/>
        </p:nvSpPr>
        <p:spPr>
          <a:xfrm>
            <a:off x="1608667" y="138399"/>
            <a:ext cx="8669433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cs typeface="Arial"/>
              </a:rPr>
              <a:t>XPTO3: </a:t>
            </a:r>
            <a:r>
              <a:rPr lang="pt-BR" sz="1600" dirty="0">
                <a:solidFill>
                  <a:srgbClr val="0070C0"/>
                </a:solidFill>
                <a:latin typeface="Aptos"/>
                <a:cs typeface="Arial"/>
              </a:rPr>
              <a:t> Sistema de controle de acesso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33F13FD-7723-AECC-89CD-837A0CB5D0E0}"/>
              </a:ext>
            </a:extLst>
          </p:cNvPr>
          <p:cNvSpPr txBox="1"/>
          <p:nvPr/>
        </p:nvSpPr>
        <p:spPr>
          <a:xfrm>
            <a:off x="387804" y="587332"/>
            <a:ext cx="1141639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800" b="1" dirty="0">
                <a:latin typeface="Arial"/>
                <a:cs typeface="Arial"/>
              </a:rPr>
              <a:t>Dispositivo para controle de </a:t>
            </a:r>
            <a:r>
              <a:rPr lang="pt-BR" sz="2800" b="1" i="1" dirty="0">
                <a:latin typeface="Arial"/>
                <a:cs typeface="Arial"/>
              </a:rPr>
              <a:t>acesso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A184E653-4374-483D-9343-C587CCA0D53D}"/>
              </a:ext>
            </a:extLst>
          </p:cNvPr>
          <p:cNvSpPr txBox="1"/>
          <p:nvPr/>
        </p:nvSpPr>
        <p:spPr>
          <a:xfrm>
            <a:off x="387804" y="1328030"/>
            <a:ext cx="6750933" cy="474431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Características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Controle de ferramental visual.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Portas de acrílico sobrepostas, moldura em metal.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Fechadura Intelbras MFR4000.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Hub Intelbras MCA1002.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Câmera de monitoramento IM7.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Sensores de abertura.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Controle de acesso eletrônico via aplicativo.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Identifica quem abriu e quando.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4 Pilhas AA para 10 meses.</a:t>
            </a:r>
          </a:p>
        </p:txBody>
      </p:sp>
      <p:pic>
        <p:nvPicPr>
          <p:cNvPr id="3082" name="Picture 10">
            <a:extLst>
              <a:ext uri="{FF2B5EF4-FFF2-40B4-BE49-F238E27FC236}">
                <a16:creationId xmlns:a16="http://schemas.microsoft.com/office/drawing/2014/main" id="{D3C33E20-2328-4713-9B93-669BB9FE6F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4349" y="3710637"/>
            <a:ext cx="1140148" cy="2446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>
            <a:extLst>
              <a:ext uri="{FF2B5EF4-FFF2-40B4-BE49-F238E27FC236}">
                <a16:creationId xmlns:a16="http://schemas.microsoft.com/office/drawing/2014/main" id="{1FA777C0-2F32-483D-968D-967FB76C1E5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547" t="34558" r="34086" b="31232"/>
          <a:stretch/>
        </p:blipFill>
        <p:spPr bwMode="auto">
          <a:xfrm>
            <a:off x="6222334" y="3883286"/>
            <a:ext cx="2102060" cy="2221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6" name="Picture 14">
            <a:extLst>
              <a:ext uri="{FF2B5EF4-FFF2-40B4-BE49-F238E27FC236}">
                <a16:creationId xmlns:a16="http://schemas.microsoft.com/office/drawing/2014/main" id="{203F48A1-9D11-4F03-8EE3-D2BD9EE46B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8934" y="1317805"/>
            <a:ext cx="1819680" cy="1928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0863E20C-08AE-4530-9630-E58D0F1E66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64452" y="3762972"/>
            <a:ext cx="1539744" cy="2342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1FB5B9F4-5864-42AD-9A39-A8B69D082F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43537" y="1435530"/>
            <a:ext cx="1427747" cy="1854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8578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241310-179C-9CAE-9526-095C18855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Linha">
            <a:extLst>
              <a:ext uri="{FF2B5EF4-FFF2-40B4-BE49-F238E27FC236}">
                <a16:creationId xmlns:a16="http://schemas.microsoft.com/office/drawing/2014/main" id="{792EA8EC-6E8E-574D-4B31-A17C45AF5A45}"/>
              </a:ext>
            </a:extLst>
          </p:cNvPr>
          <p:cNvSpPr/>
          <p:nvPr/>
        </p:nvSpPr>
        <p:spPr>
          <a:xfrm flipV="1">
            <a:off x="252919" y="486960"/>
            <a:ext cx="8852170" cy="30053"/>
          </a:xfrm>
          <a:prstGeom prst="line">
            <a:avLst/>
          </a:prstGeom>
          <a:ln w="57150">
            <a:gradFill flip="none" rotWithShape="1">
              <a:gsLst>
                <a:gs pos="41964">
                  <a:srgbClr val="B2CBFF">
                    <a:alpha val="85000"/>
                  </a:srgbClr>
                </a:gs>
                <a:gs pos="62953">
                  <a:srgbClr val="93B5FF"/>
                </a:gs>
                <a:gs pos="27972">
                  <a:srgbClr val="C7D9FF"/>
                </a:gs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  <a:miter lim="400000"/>
          </a:ln>
        </p:spPr>
        <p:txBody>
          <a:bodyPr lIns="25400" tIns="25400" rIns="25400" bIns="254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00163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807FF9C-01EF-9D7D-5CF9-D637F93321FC}"/>
              </a:ext>
            </a:extLst>
          </p:cNvPr>
          <p:cNvSpPr txBox="1"/>
          <p:nvPr/>
        </p:nvSpPr>
        <p:spPr>
          <a:xfrm>
            <a:off x="10269699" y="-13607"/>
            <a:ext cx="1915914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sng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Resp.: </a:t>
            </a:r>
          </a:p>
          <a:p>
            <a:pPr algn="ctr">
              <a:defRPr/>
            </a:pPr>
            <a:r>
              <a:rPr lang="pt-BR" u="sng" dirty="0">
                <a:solidFill>
                  <a:srgbClr val="0070C0"/>
                </a:solidFill>
                <a:latin typeface="Aptos" panose="02110004020202020204"/>
              </a:rPr>
              <a:t>Gabriel Donizetti</a:t>
            </a:r>
            <a:endParaRPr kumimoji="0" lang="pt-BR" sz="1800" b="0" i="0" u="sng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463ACC79-9933-41AA-B3B6-3A2F6B6C790F}"/>
              </a:ext>
            </a:extLst>
          </p:cNvPr>
          <p:cNvSpPr txBox="1"/>
          <p:nvPr/>
        </p:nvSpPr>
        <p:spPr>
          <a:xfrm>
            <a:off x="204278" y="125347"/>
            <a:ext cx="1404389" cy="4103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lvl="0" indent="0" algn="l" defTabSz="2438338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cs typeface="Arial"/>
                <a:sym typeface="Helvetica Neue"/>
              </a:rPr>
              <a:t>Entrega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cs typeface="Arial"/>
                <a:sym typeface="Helvetica Neue"/>
              </a:rPr>
              <a:t> </a:t>
            </a:r>
            <a:r>
              <a:rPr lang="en-US" sz="2000" b="1" dirty="0">
                <a:solidFill>
                  <a:srgbClr val="0070C0"/>
                </a:solidFill>
                <a:latin typeface="Arial"/>
                <a:cs typeface="Arial"/>
                <a:sym typeface="Helvetica Neue"/>
              </a:rPr>
              <a:t>4</a:t>
            </a:r>
            <a:endParaRPr kumimoji="0" lang="pt-BR" sz="20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1E038A29-1666-4EDC-B4B1-36DA1DB0D694}"/>
              </a:ext>
            </a:extLst>
          </p:cNvPr>
          <p:cNvSpPr txBox="1"/>
          <p:nvPr/>
        </p:nvSpPr>
        <p:spPr>
          <a:xfrm>
            <a:off x="387802" y="617016"/>
            <a:ext cx="1141639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800" b="1" dirty="0">
                <a:latin typeface="Arial"/>
                <a:cs typeface="Arial"/>
              </a:rPr>
              <a:t>Custos</a:t>
            </a:r>
            <a:endParaRPr lang="pt-BR" sz="2400" b="1" dirty="0">
              <a:latin typeface="Arial"/>
              <a:cs typeface="Arial"/>
            </a:endParaRP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538B998F-9E87-4993-9A38-F341B8B67E02}"/>
              </a:ext>
            </a:extLst>
          </p:cNvPr>
          <p:cNvSpPr txBox="1"/>
          <p:nvPr/>
        </p:nvSpPr>
        <p:spPr>
          <a:xfrm>
            <a:off x="1604467" y="135479"/>
            <a:ext cx="8669433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cs typeface="Arial"/>
              </a:rPr>
              <a:t>XPTO4: </a:t>
            </a:r>
            <a:r>
              <a:rPr lang="pt-BR" sz="1600" dirty="0">
                <a:solidFill>
                  <a:srgbClr val="0070C0"/>
                </a:solidFill>
                <a:latin typeface="Aptos"/>
                <a:cs typeface="Arial"/>
              </a:rPr>
              <a:t>Plano de execução e levantamento de custos do projeto</a:t>
            </a: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9B6B6F53-2793-414E-8B95-52D45CFE3F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2943000"/>
              </p:ext>
            </p:extLst>
          </p:nvPr>
        </p:nvGraphicFramePr>
        <p:xfrm>
          <a:off x="2612020" y="1283219"/>
          <a:ext cx="6967955" cy="5296554"/>
        </p:xfrm>
        <a:graphic>
          <a:graphicData uri="http://schemas.openxmlformats.org/drawingml/2006/table">
            <a:tbl>
              <a:tblPr/>
              <a:tblGrid>
                <a:gridCol w="5059646">
                  <a:extLst>
                    <a:ext uri="{9D8B030D-6E8A-4147-A177-3AD203B41FA5}">
                      <a16:colId xmlns:a16="http://schemas.microsoft.com/office/drawing/2014/main" val="3520633118"/>
                    </a:ext>
                  </a:extLst>
                </a:gridCol>
                <a:gridCol w="1908309">
                  <a:extLst>
                    <a:ext uri="{9D8B030D-6E8A-4147-A177-3AD203B41FA5}">
                      <a16:colId xmlns:a16="http://schemas.microsoft.com/office/drawing/2014/main" val="199245808"/>
                    </a:ext>
                  </a:extLst>
                </a:gridCol>
              </a:tblGrid>
              <a:tr h="401997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pt-BR" sz="2000" b="1" i="0" u="none" strike="noStrike">
                          <a:solidFill>
                            <a:srgbClr val="000000"/>
                          </a:solidFill>
                          <a:effectLst/>
                          <a:latin typeface="Nunito" pitchFamily="2" charset="0"/>
                        </a:rPr>
                        <a:t>Custo do painel de ferramentas</a:t>
                      </a:r>
                    </a:p>
                  </a:txBody>
                  <a:tcPr marL="167790" marR="167790" marT="83895" marB="8389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1759208"/>
                  </a:ext>
                </a:extLst>
              </a:tr>
              <a:tr h="401997">
                <a:tc>
                  <a:txBody>
                    <a:bodyPr/>
                    <a:lstStyle/>
                    <a:p>
                      <a:pPr algn="l" fontAlgn="b"/>
                      <a:r>
                        <a:rPr lang="pt-B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Nunito" pitchFamily="2" charset="0"/>
                        </a:rPr>
                        <a:t>Estrutura do painel em aço + pintura</a:t>
                      </a:r>
                    </a:p>
                  </a:txBody>
                  <a:tcPr marL="17478" marR="17478" marT="1747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Nunito" pitchFamily="2" charset="0"/>
                        </a:rPr>
                        <a:t> R$   1.200,00 </a:t>
                      </a:r>
                    </a:p>
                  </a:txBody>
                  <a:tcPr marL="17478" marR="17478" marT="17478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6220159"/>
                  </a:ext>
                </a:extLst>
              </a:tr>
              <a:tr h="401997">
                <a:tc>
                  <a:txBody>
                    <a:bodyPr/>
                    <a:lstStyle/>
                    <a:p>
                      <a:pPr algn="l" fontAlgn="b"/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Nunito" pitchFamily="2" charset="0"/>
                        </a:rPr>
                        <a:t>Acrílico para as portas</a:t>
                      </a:r>
                    </a:p>
                  </a:txBody>
                  <a:tcPr marL="17478" marR="17478" marT="1747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Nunito" pitchFamily="2" charset="0"/>
                        </a:rPr>
                        <a:t> R$      150,00 </a:t>
                      </a:r>
                    </a:p>
                  </a:txBody>
                  <a:tcPr marL="17478" marR="17478" marT="17478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7782939"/>
                  </a:ext>
                </a:extLst>
              </a:tr>
              <a:tr h="401997">
                <a:tc>
                  <a:txBody>
                    <a:bodyPr/>
                    <a:lstStyle/>
                    <a:p>
                      <a:pPr algn="l" fontAlgn="b"/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Nunito" pitchFamily="2" charset="0"/>
                        </a:rPr>
                        <a:t>Fechadura eletrônica Intelbras MFR4000</a:t>
                      </a:r>
                    </a:p>
                  </a:txBody>
                  <a:tcPr marL="17478" marR="17478" marT="1747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Nunito" pitchFamily="2" charset="0"/>
                        </a:rPr>
                        <a:t> R$   1.350,00 </a:t>
                      </a:r>
                    </a:p>
                  </a:txBody>
                  <a:tcPr marL="17478" marR="17478" marT="17478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3332419"/>
                  </a:ext>
                </a:extLst>
              </a:tr>
              <a:tr h="401997">
                <a:tc>
                  <a:txBody>
                    <a:bodyPr/>
                    <a:lstStyle/>
                    <a:p>
                      <a:pPr algn="l" fontAlgn="b"/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Nunito" pitchFamily="2" charset="0"/>
                        </a:rPr>
                        <a:t>Hub Intelbras MCA1002</a:t>
                      </a:r>
                    </a:p>
                  </a:txBody>
                  <a:tcPr marL="17478" marR="17478" marT="1747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Nunito" pitchFamily="2" charset="0"/>
                        </a:rPr>
                        <a:t> R$      250,00 </a:t>
                      </a:r>
                    </a:p>
                  </a:txBody>
                  <a:tcPr marL="17478" marR="17478" marT="17478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5794326"/>
                  </a:ext>
                </a:extLst>
              </a:tr>
              <a:tr h="401997">
                <a:tc>
                  <a:txBody>
                    <a:bodyPr/>
                    <a:lstStyle/>
                    <a:p>
                      <a:pPr algn="l" fontAlgn="b"/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Nunito" pitchFamily="2" charset="0"/>
                        </a:rPr>
                        <a:t>Câmera de monitoramento Intelbras IM7</a:t>
                      </a:r>
                    </a:p>
                  </a:txBody>
                  <a:tcPr marL="17478" marR="17478" marT="1747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Nunito" pitchFamily="2" charset="0"/>
                        </a:rPr>
                        <a:t> R$      400,00 </a:t>
                      </a:r>
                    </a:p>
                  </a:txBody>
                  <a:tcPr marL="17478" marR="17478" marT="17478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0528948"/>
                  </a:ext>
                </a:extLst>
              </a:tr>
              <a:tr h="401997">
                <a:tc>
                  <a:txBody>
                    <a:bodyPr/>
                    <a:lstStyle/>
                    <a:p>
                      <a:pPr algn="l" fontAlgn="b"/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Nunito" pitchFamily="2" charset="0"/>
                        </a:rPr>
                        <a:t>Iluminação e elétrica</a:t>
                      </a:r>
                    </a:p>
                  </a:txBody>
                  <a:tcPr marL="17478" marR="17478" marT="1747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Nunito" pitchFamily="2" charset="0"/>
                        </a:rPr>
                        <a:t> R$      250,00 </a:t>
                      </a:r>
                    </a:p>
                  </a:txBody>
                  <a:tcPr marL="17478" marR="17478" marT="17478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7037715"/>
                  </a:ext>
                </a:extLst>
              </a:tr>
              <a:tr h="401997">
                <a:tc>
                  <a:txBody>
                    <a:bodyPr/>
                    <a:lstStyle/>
                    <a:p>
                      <a:pPr algn="l" fontAlgn="b"/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Nunito" pitchFamily="2" charset="0"/>
                        </a:rPr>
                        <a:t>Materiais para fixação e instalação</a:t>
                      </a:r>
                    </a:p>
                  </a:txBody>
                  <a:tcPr marL="17478" marR="17478" marT="1747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Nunito" pitchFamily="2" charset="0"/>
                        </a:rPr>
                        <a:t> R$      200,00 </a:t>
                      </a:r>
                    </a:p>
                  </a:txBody>
                  <a:tcPr marL="17478" marR="17478" marT="17478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560599"/>
                  </a:ext>
                </a:extLst>
              </a:tr>
              <a:tr h="401997">
                <a:tc>
                  <a:txBody>
                    <a:bodyPr/>
                    <a:lstStyle/>
                    <a:p>
                      <a:pPr algn="l" fontAlgn="b"/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Nunito" pitchFamily="2" charset="0"/>
                        </a:rPr>
                        <a:t>Kit para porta de correr sobrepostas</a:t>
                      </a:r>
                    </a:p>
                  </a:txBody>
                  <a:tcPr marL="17478" marR="17478" marT="1747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Nunito" pitchFamily="2" charset="0"/>
                        </a:rPr>
                        <a:t> R$      140,00 </a:t>
                      </a:r>
                    </a:p>
                  </a:txBody>
                  <a:tcPr marL="17478" marR="17478" marT="17478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4760772"/>
                  </a:ext>
                </a:extLst>
              </a:tr>
              <a:tr h="401997">
                <a:tc>
                  <a:txBody>
                    <a:bodyPr/>
                    <a:lstStyle/>
                    <a:p>
                      <a:pPr algn="l" fontAlgn="b"/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Nunito" pitchFamily="2" charset="0"/>
                        </a:rPr>
                        <a:t>Puxadores</a:t>
                      </a:r>
                    </a:p>
                  </a:txBody>
                  <a:tcPr marL="17478" marR="17478" marT="1747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Nunito" pitchFamily="2" charset="0"/>
                        </a:rPr>
                        <a:t> R$         40,00 </a:t>
                      </a:r>
                    </a:p>
                  </a:txBody>
                  <a:tcPr marL="17478" marR="17478" marT="17478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3529663"/>
                  </a:ext>
                </a:extLst>
              </a:tr>
              <a:tr h="401997">
                <a:tc>
                  <a:txBody>
                    <a:bodyPr/>
                    <a:lstStyle/>
                    <a:p>
                      <a:pPr algn="l" fontAlgn="b"/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Nunito" pitchFamily="2" charset="0"/>
                        </a:rPr>
                        <a:t>Fechadura Cremona + haste</a:t>
                      </a:r>
                    </a:p>
                  </a:txBody>
                  <a:tcPr marL="17478" marR="17478" marT="1747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Nunito" pitchFamily="2" charset="0"/>
                        </a:rPr>
                        <a:t> R$         90,00 </a:t>
                      </a:r>
                    </a:p>
                  </a:txBody>
                  <a:tcPr marL="17478" marR="17478" marT="17478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3647909"/>
                  </a:ext>
                </a:extLst>
              </a:tr>
              <a:tr h="401997">
                <a:tc>
                  <a:txBody>
                    <a:bodyPr/>
                    <a:lstStyle/>
                    <a:p>
                      <a:pPr algn="l" fontAlgn="b"/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Nunito" pitchFamily="2" charset="0"/>
                        </a:rPr>
                        <a:t>Sensor magnético Intelbras MSA1001</a:t>
                      </a:r>
                    </a:p>
                  </a:txBody>
                  <a:tcPr marL="17478" marR="17478" marT="1747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Nunito" pitchFamily="2" charset="0"/>
                        </a:rPr>
                        <a:t> R$      200,00 </a:t>
                      </a:r>
                    </a:p>
                  </a:txBody>
                  <a:tcPr marL="17478" marR="17478" marT="17478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5319197"/>
                  </a:ext>
                </a:extLst>
              </a:tr>
              <a:tr h="401997">
                <a:tc>
                  <a:txBody>
                    <a:bodyPr/>
                    <a:lstStyle/>
                    <a:p>
                      <a:pPr algn="r" fontAlgn="b"/>
                      <a:r>
                        <a:rPr lang="pt-B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Nunito" pitchFamily="2" charset="0"/>
                        </a:rPr>
                        <a:t>Total</a:t>
                      </a:r>
                    </a:p>
                  </a:txBody>
                  <a:tcPr marL="17478" marR="17478" marT="1747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Nunito" pitchFamily="2" charset="0"/>
                        </a:rPr>
                        <a:t> R$   4.270,00 </a:t>
                      </a:r>
                    </a:p>
                  </a:txBody>
                  <a:tcPr marL="17478" marR="17478" marT="17478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96867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4209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02FFC-2479-F21B-2D83-2602D95C3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Linha">
            <a:extLst>
              <a:ext uri="{FF2B5EF4-FFF2-40B4-BE49-F238E27FC236}">
                <a16:creationId xmlns:a16="http://schemas.microsoft.com/office/drawing/2014/main" id="{16E2F487-4234-6A35-64F2-D9151DDDB144}"/>
              </a:ext>
            </a:extLst>
          </p:cNvPr>
          <p:cNvSpPr/>
          <p:nvPr/>
        </p:nvSpPr>
        <p:spPr>
          <a:xfrm flipV="1">
            <a:off x="252919" y="486960"/>
            <a:ext cx="8852170" cy="30053"/>
          </a:xfrm>
          <a:prstGeom prst="line">
            <a:avLst/>
          </a:prstGeom>
          <a:ln w="57150">
            <a:gradFill flip="none" rotWithShape="1">
              <a:gsLst>
                <a:gs pos="41964">
                  <a:srgbClr val="B2CBFF">
                    <a:alpha val="85000"/>
                  </a:srgbClr>
                </a:gs>
                <a:gs pos="62953">
                  <a:srgbClr val="93B5FF"/>
                </a:gs>
                <a:gs pos="27972">
                  <a:srgbClr val="C7D9FF"/>
                </a:gs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  <a:miter lim="400000"/>
          </a:ln>
        </p:spPr>
        <p:txBody>
          <a:bodyPr lIns="25400" tIns="25400" rIns="25400" bIns="254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00163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060063F2-D45A-F44A-644D-095F350228A1}"/>
              </a:ext>
            </a:extLst>
          </p:cNvPr>
          <p:cNvSpPr txBox="1"/>
          <p:nvPr/>
        </p:nvSpPr>
        <p:spPr>
          <a:xfrm>
            <a:off x="387804" y="952357"/>
            <a:ext cx="11416392" cy="52578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2400" b="1" dirty="0">
                <a:latin typeface="Arial"/>
                <a:cs typeface="Arial"/>
              </a:rPr>
              <a:t>Organização e controle de ferramentas por baia de trabalho.</a:t>
            </a:r>
          </a:p>
          <a:p>
            <a:pPr algn="ctr">
              <a:lnSpc>
                <a:spcPct val="150000"/>
              </a:lnSpc>
            </a:pPr>
            <a:r>
              <a:rPr lang="pt-BR" sz="2400" b="1" dirty="0">
                <a:latin typeface="Arial"/>
                <a:cs typeface="Arial"/>
              </a:rPr>
              <a:t>Cliente: Aernnova – Fábio Elizeu</a:t>
            </a:r>
          </a:p>
          <a:p>
            <a:pPr algn="ctr">
              <a:lnSpc>
                <a:spcPct val="150000"/>
              </a:lnSpc>
            </a:pPr>
            <a:endParaRPr lang="pt-BR" sz="2200" b="1" dirty="0">
              <a:latin typeface="Arial"/>
              <a:cs typeface="Arial"/>
            </a:endParaRPr>
          </a:p>
          <a:p>
            <a:pPr algn="ctr">
              <a:lnSpc>
                <a:spcPct val="150000"/>
              </a:lnSpc>
            </a:pPr>
            <a:r>
              <a:rPr lang="pt-BR" sz="2800" b="1" dirty="0">
                <a:latin typeface="Arial"/>
                <a:cs typeface="Arial"/>
              </a:rPr>
              <a:t>Muito Obrigado!!!</a:t>
            </a:r>
            <a:endParaRPr lang="pt-BR" sz="2200" b="1" dirty="0">
              <a:latin typeface="Arial"/>
              <a:cs typeface="Arial"/>
            </a:endParaRPr>
          </a:p>
          <a:p>
            <a:pPr algn="just">
              <a:lnSpc>
                <a:spcPct val="150000"/>
              </a:lnSpc>
            </a:pPr>
            <a:r>
              <a:rPr lang="pt-BR" sz="2000" b="1" dirty="0">
                <a:latin typeface="Arial"/>
                <a:cs typeface="Arial"/>
              </a:rPr>
              <a:t>Equipe:</a:t>
            </a:r>
          </a:p>
          <a:p>
            <a:pPr algn="just">
              <a:lnSpc>
                <a:spcPct val="150000"/>
              </a:lnSpc>
            </a:pPr>
            <a:r>
              <a:rPr lang="pt-BR" dirty="0">
                <a:latin typeface="Arial"/>
                <a:cs typeface="Arial"/>
              </a:rPr>
              <a:t>Franciel Izidoro da Costa</a:t>
            </a:r>
          </a:p>
          <a:p>
            <a:pPr algn="just">
              <a:lnSpc>
                <a:spcPct val="150000"/>
              </a:lnSpc>
            </a:pPr>
            <a:r>
              <a:rPr lang="pt-BR" dirty="0">
                <a:latin typeface="Arial"/>
                <a:cs typeface="Arial"/>
              </a:rPr>
              <a:t>Gabriel Donizetti Jesus Campos</a:t>
            </a:r>
          </a:p>
          <a:p>
            <a:pPr algn="just">
              <a:lnSpc>
                <a:spcPct val="150000"/>
              </a:lnSpc>
            </a:pPr>
            <a:r>
              <a:rPr lang="pt-BR" dirty="0">
                <a:latin typeface="Arial"/>
                <a:cs typeface="Arial"/>
              </a:rPr>
              <a:t>Gustavo Evangelista Rodrigues</a:t>
            </a:r>
          </a:p>
          <a:p>
            <a:pPr algn="just">
              <a:lnSpc>
                <a:spcPct val="150000"/>
              </a:lnSpc>
            </a:pPr>
            <a:r>
              <a:rPr lang="pt-BR" dirty="0">
                <a:latin typeface="Arial"/>
                <a:cs typeface="Arial"/>
              </a:rPr>
              <a:t>Raphael Nunes Silva</a:t>
            </a:r>
          </a:p>
          <a:p>
            <a:pPr algn="just">
              <a:lnSpc>
                <a:spcPct val="150000"/>
              </a:lnSpc>
            </a:pPr>
            <a:r>
              <a:rPr lang="pt-BR" dirty="0">
                <a:latin typeface="Arial"/>
                <a:cs typeface="Arial"/>
              </a:rPr>
              <a:t>Robson Rodolfo Azevedo</a:t>
            </a:r>
          </a:p>
          <a:p>
            <a:pPr algn="just">
              <a:lnSpc>
                <a:spcPct val="150000"/>
              </a:lnSpc>
            </a:pPr>
            <a:r>
              <a:rPr lang="pt-BR" dirty="0">
                <a:latin typeface="Arial"/>
                <a:cs typeface="Arial"/>
              </a:rPr>
              <a:t>Tainan de Souza Ferreira dos Santos</a:t>
            </a:r>
            <a:endParaRPr lang="pt-BR" sz="2000" b="1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61390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ddb99b96-edc9-4a32-93e9-1dbc100bef9b" xsi:nil="true"/>
    <lcf76f155ced4ddcb4097134ff3c332f xmlns="ddb99b96-edc9-4a32-93e9-1dbc100bef9b">
      <Terms xmlns="http://schemas.microsoft.com/office/infopath/2007/PartnerControls"/>
    </lcf76f155ced4ddcb4097134ff3c332f>
    <TaxCatchAll xmlns="a48d182f-17e0-42b6-9936-b02c58680161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80247ADB237764AAB47CDA073F4913D" ma:contentTypeVersion="13" ma:contentTypeDescription="Crie um novo documento." ma:contentTypeScope="" ma:versionID="fa5cb0b59d9ac62210beb6751a368d5e">
  <xsd:schema xmlns:xsd="http://www.w3.org/2001/XMLSchema" xmlns:xs="http://www.w3.org/2001/XMLSchema" xmlns:p="http://schemas.microsoft.com/office/2006/metadata/properties" xmlns:ns2="ddb99b96-edc9-4a32-93e9-1dbc100bef9b" xmlns:ns3="a48d182f-17e0-42b6-9936-b02c58680161" targetNamespace="http://schemas.microsoft.com/office/2006/metadata/properties" ma:root="true" ma:fieldsID="6c0e612be8dcce56c5937ffe0286f045" ns2:_="" ns3:_="">
    <xsd:import namespace="ddb99b96-edc9-4a32-93e9-1dbc100bef9b"/>
    <xsd:import namespace="a48d182f-17e0-42b6-9936-b02c58680161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b99b96-edc9-4a32-93e9-1dbc100bef9b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Marcações de imagem" ma:readOnly="false" ma:fieldId="{5cf76f15-5ced-4ddc-b409-7134ff3c332f}" ma:taxonomyMulti="true" ma:sspId="0ef6089c-5148-4909-88ac-65974e5b7eb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8d182f-17e0-42b6-9936-b02c58680161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42345afb-524c-4dfc-8f67-61bf223aee2a}" ma:internalName="TaxCatchAll" ma:showField="CatchAllData" ma:web="a48d182f-17e0-42b6-9936-b02c5868016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A4E09FE-0A61-43E9-8CA5-60AFDF67D7FF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78665074-1504-46F9-A792-7908886A1BD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3D0E7A3-7E4D-4848-897E-6EE6BB21723F}"/>
</file>

<file path=docProps/app.xml><?xml version="1.0" encoding="utf-8"?>
<Properties xmlns="http://schemas.openxmlformats.org/officeDocument/2006/extended-properties" xmlns:vt="http://schemas.openxmlformats.org/officeDocument/2006/docPropsVTypes">
  <TotalTime>1717</TotalTime>
  <Words>891</Words>
  <Application>Microsoft Office PowerPoint</Application>
  <PresentationFormat>Widescreen</PresentationFormat>
  <Paragraphs>176</Paragraphs>
  <Slides>15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21" baseType="lpstr">
      <vt:lpstr>Aptos</vt:lpstr>
      <vt:lpstr>Aptos Display</vt:lpstr>
      <vt:lpstr>Arial</vt:lpstr>
      <vt:lpstr>Arial,Sans-Serif</vt:lpstr>
      <vt:lpstr>Nunito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RODRIGO ELIAS PEREIRA</dc:creator>
  <cp:lastModifiedBy>Gustavo</cp:lastModifiedBy>
  <cp:revision>595</cp:revision>
  <dcterms:created xsi:type="dcterms:W3CDTF">2025-03-11T00:08:10Z</dcterms:created>
  <dcterms:modified xsi:type="dcterms:W3CDTF">2025-11-24T18:10:25Z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0x010100380247ADB237764AAB47CDA073F4913D</vt:lpwstr>
  </property>
</Properties>
</file>