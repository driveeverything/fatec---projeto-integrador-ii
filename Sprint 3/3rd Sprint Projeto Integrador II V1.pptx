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71178" r:id="rId5"/>
    <p:sldId id="2147471179" r:id="rId6"/>
    <p:sldId id="2147471156" r:id="rId7"/>
    <p:sldId id="2147471173" r:id="rId8"/>
    <p:sldId id="2147471164" r:id="rId9"/>
    <p:sldId id="2147471186" r:id="rId10"/>
    <p:sldId id="2147471162" r:id="rId11"/>
    <p:sldId id="2147471167" r:id="rId12"/>
    <p:sldId id="2147471168" r:id="rId13"/>
    <p:sldId id="2147471188" r:id="rId14"/>
    <p:sldId id="2147471187" r:id="rId15"/>
    <p:sldId id="2147471189" r:id="rId16"/>
    <p:sldId id="2147471180" r:id="rId17"/>
    <p:sldId id="2147471190" r:id="rId18"/>
    <p:sldId id="2147471165" r:id="rId19"/>
    <p:sldId id="2147471185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8C4"/>
    <a:srgbClr val="FFE4C1"/>
    <a:srgbClr val="FEEBCE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804C-C841-F63F-EF9C-2D9822D29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F6D4D-675E-A7E7-BDC6-1B9AA0DB3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E944-8A01-E41F-6F75-54A60A0F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0EDC-2BAE-C954-5B49-59470487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4623-4735-822A-8F18-7AB13F24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03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67F0-97B6-4898-1464-EA6D06DA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71A3-FBAA-0C71-30EF-C4C3E173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FBE3-8886-056A-CEA2-3B982DFB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3C0C-F52E-BE24-4A52-DECAEFDA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6E4C-CD78-12A3-4EBE-974AD95E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2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0098-F150-419A-A9BC-1EE2D261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C16AB-E376-897E-2C52-BE550EF00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FC71-64BC-F172-8AD4-BD987727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C6BA-5773-1B7F-16CE-FF650886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EE54-D726-42B6-D5E5-2C3CE711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94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F846-2F6A-744F-C918-4917FC4C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DA83-FA02-B316-386E-56F833394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55A66-8D0B-630E-20D2-1B5AE8E1E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83B9-A8BF-A4A6-AADD-40633E1B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B37AD-9875-6D91-41B1-8D727043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F534F-6DDA-54E0-0E08-DF759D2A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98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E74E-2150-50EE-B6ED-D1299E6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459A8-52A3-B7D3-1198-F2643D6A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8441E-0D60-0601-83D3-87FE70A61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58987-0357-7CFE-B623-A47635D7D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4B78B-D078-5238-80D0-B789567B1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B6AC4-1B5E-E3A1-C60C-AA5BC952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1C5C5-6977-4577-D5C5-9EE92B18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43670-CA73-9D7B-9113-E81AE033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37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52B-98E1-7087-B344-6A38D86D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864BB-DC36-E4AC-B1FC-D0C8F6A2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66BBF-0928-4374-620E-8BFEFFAB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D3C37-7172-77E1-F696-20197EE6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08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75BA1-AFED-96B0-7CA0-898C67A6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0919E-04B3-10BD-5A4C-A73AD9D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E1FBF-BFF7-212B-DA76-2B2A2549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0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1075-D163-3EE4-B161-258DEBFB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32FB-A51D-DF66-7C51-DDCCFA9E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9AB59-B641-D3EC-29D5-B7871F5E1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51CC6-5465-6E80-1CE8-862753C8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E4E7-2E7F-1D99-0C56-7CED5E44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DDF2-15B4-3C53-645F-201F3DAA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56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1610-D8BE-4877-12C9-B496F4C8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19008-EC03-AD15-F71B-5241856BC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47B67-E286-0A94-D5ED-CBEC3A4E0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A531A-7D3A-CD92-40A8-5162542F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ED5FE-359C-0EAE-36C6-58177F83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6E3CF-3717-AD65-E174-187608C1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91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5EDF-2119-F798-A03C-50B2AEF2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31E18-E903-75D7-AA58-E5A8D8062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C66C-06C2-E604-27F9-DACD7967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9167B-CC90-563D-1BFC-6F80D99D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286-F1DB-308D-CAD9-B6BA8A18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19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33EC9-43AC-C49C-F581-D836E79C7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A66BB-384C-B1FC-2D54-C90FB9878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723A2-21F1-B3BF-EBCA-3CD3D310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3832-EF08-7839-B54F-73B1DDA0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CCF3-348B-A0FB-1897-53BA7299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998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960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FFB70-60B5-3946-7116-14D84326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9E5CC-74BF-9813-F0F7-130A0F6B0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1B58-A81C-14C0-BBEE-454AD11CB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92EF-C2C2-4FE7-B0CC-B56D04CC503C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01C3-5120-A0B1-3A39-21E843BCB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CA61-C6CE-4C8F-CC70-60D1DCD5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2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952357"/>
            <a:ext cx="11416392" cy="4611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Cliente: Aernnova – Fábio Elizeu</a:t>
            </a:r>
          </a:p>
          <a:p>
            <a:pPr algn="ctr">
              <a:lnSpc>
                <a:spcPct val="150000"/>
              </a:lnSpc>
            </a:pPr>
            <a:endParaRPr lang="pt-BR" sz="22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/>
                <a:cs typeface="Arial"/>
              </a:rPr>
              <a:t>Equipe: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Franciel Izidoro da Costa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Gabriel Donizetti Jesus Campos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Gustavo Evangelista Rodrigues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Raphael Nunes Silva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Robson Rodolfo Azevedo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Tainan de Souza Ferreira dos Santos</a:t>
            </a:r>
            <a:endParaRPr lang="pt-BR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07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3308A1B-B698-4AEA-BE47-3BA8CE6B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52" y="2089735"/>
            <a:ext cx="10224496" cy="26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7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381407-2E89-446F-9A6D-AA9CC3B54AEB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1000" y="639536"/>
            <a:ext cx="11416392" cy="4917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u="sng" dirty="0">
                <a:latin typeface="Arial"/>
                <a:cs typeface="Arial"/>
              </a:rPr>
              <a:t>Problema: 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Pontos de vista</a:t>
            </a:r>
            <a:endParaRPr lang="pt-BR" sz="2100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Operador: </a:t>
            </a:r>
            <a:r>
              <a:rPr lang="pt-BR" sz="2200" dirty="0">
                <a:latin typeface="Arial"/>
                <a:cs typeface="Arial"/>
              </a:rPr>
              <a:t>Melhor visualização e organização das ferramentas, otimização de tempo.</a:t>
            </a: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Supervisor</a:t>
            </a:r>
            <a:r>
              <a:rPr lang="pt-BR" sz="2200" dirty="0">
                <a:latin typeface="Arial"/>
                <a:cs typeface="Arial"/>
              </a:rPr>
              <a:t>: Melhor rastreabilidade da ferramenta, promovendo responsabilidade.</a:t>
            </a: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Empresa:</a:t>
            </a:r>
            <a:r>
              <a:rPr lang="pt-BR" sz="2200" dirty="0">
                <a:latin typeface="Arial"/>
                <a:cs typeface="Arial"/>
              </a:rPr>
              <a:t> Redução de extravios de ferramentas, otimização de tempo e custo. </a:t>
            </a:r>
          </a:p>
          <a:p>
            <a:pPr algn="ctr">
              <a:lnSpc>
                <a:spcPct val="150000"/>
              </a:lnSpc>
            </a:pPr>
            <a:endParaRPr lang="pt-BR" sz="2000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Objetivo</a:t>
            </a:r>
            <a:r>
              <a:rPr lang="pt-BR" sz="2000" dirty="0">
                <a:latin typeface="Arial"/>
                <a:cs typeface="Arial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Melhorar</a:t>
            </a:r>
            <a:r>
              <a:rPr lang="pt-BR" sz="2400" dirty="0">
                <a:latin typeface="Arial"/>
                <a:cs typeface="Arial"/>
              </a:rPr>
              <a:t> o controle e a organização de ferramentas, tornando mais rápido, prático e seguro a utilização e armazenamento da ferramenta.</a:t>
            </a:r>
          </a:p>
        </p:txBody>
      </p:sp>
    </p:spTree>
    <p:extLst>
      <p:ext uri="{BB962C8B-B14F-4D97-AF65-F5344CB8AC3E}">
        <p14:creationId xmlns:p14="http://schemas.microsoft.com/office/powerpoint/2010/main" val="186962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1040958"/>
            <a:ext cx="11416392" cy="4615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 sz="1600" dirty="0">
              <a:latin typeface="Arial"/>
              <a:cs typeface="Arial"/>
            </a:endParaRP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Descrição da melhoria 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Foi desenvolvido um modelo de armazenamento em formato de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painel fixo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proporcionando maior organização, transparência e monitoramento.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Principais características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Quadro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visível e acessível.</a:t>
            </a: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Porta em acrílico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proporciona visualização imediata.</a:t>
            </a: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Esquema de cores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para identificação rápida.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Setorização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 ferramentas.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Localização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estratégica.</a:t>
            </a:r>
            <a:endParaRPr lang="pt-BR" dirty="0"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7F1565-40B6-43DA-BEF4-55C120776AAC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38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1007944"/>
            <a:ext cx="11416392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Restrições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Normas de segurança e ergonomia.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Painel fixo e de uso coletivo, restrito a baia de trabalho.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Requer conexão com a internet.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Disponibilidade limitada de informações.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Premissas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espaço físico é suficiente para os painéis.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cliente (Aernnova) participará das validações em cada Sprint, fornecendo feedback.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cliente estabelecerá contato com os fornecedores para obter os insumos necessários.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D632B-D485-436C-95A2-0D4CB53D1017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4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1136064"/>
            <a:ext cx="11416392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Riscos: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Resistência dos mecânicos à mudança.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Maior exposição das ferramentas ao ambiente.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Possíveis danos, se for usado de maneira incorreta.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Oportunidades: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Padronização da gestão de ferramentas em toda a empresa.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Redução de extravios e perdas, gerando economia.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Possível redução do tempo de busca por ferramentas.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Potencial de expansão da solução para outras áreas ou unidades da empresa.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Fortalecimento da disciplina operacional e da responsabilidade individual.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Geração de relatórios de acesso ao painel.</a:t>
            </a:r>
            <a:endParaRPr lang="pt-BR" sz="200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D632B-D485-436C-95A2-0D4CB53D1017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7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BC18-229C-836E-7D4F-A19C07C4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87D434-4597-E5A2-025A-B2AF158FF66F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50E4C-AAF2-3CE5-E933-FD3FB96A1FF8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4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D51CE5-721C-E9ED-FAA5-D18089A06F64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Gabriel Donizetti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9A3540-823E-8912-4A63-C9316EAB0F0B}"/>
              </a:ext>
            </a:extLst>
          </p:cNvPr>
          <p:cNvSpPr txBox="1"/>
          <p:nvPr/>
        </p:nvSpPr>
        <p:spPr>
          <a:xfrm>
            <a:off x="1608665" y="78308"/>
            <a:ext cx="866943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XPTO4: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Plano de execução e levantamento de custos do projeto</a:t>
            </a:r>
          </a:p>
          <a:p>
            <a:pPr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BFEC33-6FB2-47B8-8BAE-B9F79C367583}"/>
              </a:ext>
            </a:extLst>
          </p:cNvPr>
          <p:cNvSpPr txBox="1"/>
          <p:nvPr/>
        </p:nvSpPr>
        <p:spPr>
          <a:xfrm>
            <a:off x="530459" y="1062775"/>
            <a:ext cx="10825843" cy="4732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Plano de execução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1ª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Foi proposto 3 alternativas para melhorar o controle de ferramentas com vantagens e desvantagens.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2º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Desenvolver o projeto, seguindo o método selecionado, detalhando desenho técnico e tabela de custos.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3º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Ajustes finais do projeto de acordo com o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feedback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 cliente.</a:t>
            </a:r>
          </a:p>
          <a:p>
            <a:pPr algn="just">
              <a:lnSpc>
                <a:spcPct val="114000"/>
              </a:lnSpc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Marcos/Entregáveis Principais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1: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Definição da modificação do carrinho por um painel com 3 alternativas de solução para o controle das ferramentas com vantagens e desvantagens.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2: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Entrega de desenho técnico do painel e método de controle.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3: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Ajustes finais e validação com o cliente.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Encerramento: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Apresentação final do projeto.</a:t>
            </a:r>
            <a:endParaRPr lang="pt-BR" b="1" dirty="0">
              <a:latin typeface="Aria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133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820D-8ED1-0C11-F2EF-F95CC4A7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089DF911-3E00-1963-3742-D4039E63C230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3033A-722F-A9BD-D364-72F12ABF759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5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B99953-B323-DC21-52E0-76AB118FE6AF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Tainan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25875C6-2FC2-261C-1B2E-15E84FCB6795}"/>
              </a:ext>
            </a:extLst>
          </p:cNvPr>
          <p:cNvSpPr txBox="1"/>
          <p:nvPr/>
        </p:nvSpPr>
        <p:spPr>
          <a:xfrm>
            <a:off x="1608666" y="65216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XPTO5: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Definição do painel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ferramentas e ferramental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A56307-09A9-1852-2E39-433426410C89}"/>
              </a:ext>
            </a:extLst>
          </p:cNvPr>
          <p:cNvSpPr txBox="1"/>
          <p:nvPr/>
        </p:nvSpPr>
        <p:spPr>
          <a:xfrm>
            <a:off x="1174366" y="763535"/>
            <a:ext cx="95380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latin typeface="Arial"/>
                <a:cs typeface="Times New Roman"/>
              </a:rPr>
              <a:t>Painel de ferramentas, aplicado a uma empresa aeronáutica: </a:t>
            </a:r>
          </a:p>
        </p:txBody>
      </p:sp>
      <p:pic>
        <p:nvPicPr>
          <p:cNvPr id="3" name="Imagem 2" descr="Uma imagem contendo no interior, computador, edifício, teclado&#10;&#10;O conteúdo gerado por IA pode estar incorreto.">
            <a:extLst>
              <a:ext uri="{FF2B5EF4-FFF2-40B4-BE49-F238E27FC236}">
                <a16:creationId xmlns:a16="http://schemas.microsoft.com/office/drawing/2014/main" id="{9C9AF070-9DCA-70E1-E826-377FE6E4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63" y="1391581"/>
            <a:ext cx="8017221" cy="520962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D52E59E-7AC3-43E9-841B-68D81AB853BF}"/>
              </a:ext>
            </a:extLst>
          </p:cNvPr>
          <p:cNvSpPr/>
          <p:nvPr/>
        </p:nvSpPr>
        <p:spPr>
          <a:xfrm>
            <a:off x="6067425" y="4158853"/>
            <a:ext cx="250031" cy="92869"/>
          </a:xfrm>
          <a:prstGeom prst="rect">
            <a:avLst/>
          </a:prstGeom>
          <a:solidFill>
            <a:srgbClr val="E3D8C4"/>
          </a:solidFill>
          <a:ln>
            <a:solidFill>
              <a:srgbClr val="E3D8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0C6C-6676-2946-BD2D-9FD1BDE7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C0A179BE-B250-7BFE-5213-492FE62C2F27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261-13A9-364E-9462-B1182BEDC5D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6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40699E-32EB-4B43-60D0-9BF889F85F22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Raphael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492C699-1FB8-DA55-EFE5-707505DC7F30}"/>
              </a:ext>
            </a:extLst>
          </p:cNvPr>
          <p:cNvSpPr txBox="1"/>
          <p:nvPr/>
        </p:nvSpPr>
        <p:spPr>
          <a:xfrm>
            <a:off x="1600266" y="56964"/>
            <a:ext cx="86694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XPTO6: </a:t>
            </a:r>
            <a:r>
              <a:rPr lang="pt-BR" sz="2000" dirty="0">
                <a:solidFill>
                  <a:srgbClr val="0070C0"/>
                </a:solidFill>
                <a:latin typeface="Aptos"/>
                <a:cs typeface="Arial"/>
              </a:rPr>
              <a:t>Desenho técnico e dimensões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82F26E-4162-4116-99AF-AD221A5B2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55" b="3018"/>
          <a:stretch/>
        </p:blipFill>
        <p:spPr>
          <a:xfrm>
            <a:off x="1204465" y="535716"/>
            <a:ext cx="9461034" cy="632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5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0C6C-6676-2946-BD2D-9FD1BDE7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C0A179BE-B250-7BFE-5213-492FE62C2F27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261-13A9-364E-9462-B1182BEDC5D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6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40699E-32EB-4B43-60D0-9BF889F85F22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Raphael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51B7A48-1205-4A95-B82D-A62148E5E2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2" t="5927" r="9374" b="6583"/>
          <a:stretch/>
        </p:blipFill>
        <p:spPr>
          <a:xfrm>
            <a:off x="1508896" y="535716"/>
            <a:ext cx="8852171" cy="628402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3F3DDA3-A76B-41A6-B0D3-054E1DF01918}"/>
              </a:ext>
            </a:extLst>
          </p:cNvPr>
          <p:cNvSpPr txBox="1"/>
          <p:nvPr/>
        </p:nvSpPr>
        <p:spPr>
          <a:xfrm>
            <a:off x="1600266" y="56964"/>
            <a:ext cx="86694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XPTO6: </a:t>
            </a:r>
            <a:r>
              <a:rPr lang="pt-BR" sz="2000" dirty="0">
                <a:solidFill>
                  <a:srgbClr val="0070C0"/>
                </a:solidFill>
                <a:latin typeface="Aptos"/>
                <a:cs typeface="Arial"/>
              </a:rPr>
              <a:t>Desenho técnico e dimensões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778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387804" y="45592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2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Franciel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25347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XPTO2: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Adaptações no painel e processo de pintura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619528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Componentes do painel</a:t>
            </a:r>
            <a:endParaRPr lang="pt-BR" sz="2400" b="1" dirty="0">
              <a:latin typeface="Arial"/>
              <a:cs typeface="Arial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87804" y="1223305"/>
            <a:ext cx="675093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Portas de acrílico.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Moldura metálica no acrílico.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Kit para portas de correr sobrepostas.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Puxadores.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Fechadura cremona.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018DBB-B071-48A8-8843-45F17B69A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9578" r="6199" b="9175"/>
          <a:stretch/>
        </p:blipFill>
        <p:spPr bwMode="auto">
          <a:xfrm>
            <a:off x="525824" y="4286473"/>
            <a:ext cx="2165685" cy="193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85BE275-9256-494E-9500-6512E4E30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8" b="30491"/>
          <a:stretch/>
        </p:blipFill>
        <p:spPr bwMode="auto">
          <a:xfrm>
            <a:off x="3238500" y="4992080"/>
            <a:ext cx="2857500" cy="11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16D3C2F-237D-4760-92B4-5CEF0A17D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93365">
            <a:off x="4926300" y="1898611"/>
            <a:ext cx="3576631" cy="357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inel Para Ferramentas 970 x 640 MM com 48 Ganchos 90414 PRESTO">
            <a:extLst>
              <a:ext uri="{FF2B5EF4-FFF2-40B4-BE49-F238E27FC236}">
                <a16:creationId xmlns:a16="http://schemas.microsoft.com/office/drawing/2014/main" id="{C80D5FEA-CBA8-4C38-96A0-390374A15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3710" r="2815" b="12285"/>
          <a:stretch/>
        </p:blipFill>
        <p:spPr bwMode="auto">
          <a:xfrm flipH="1">
            <a:off x="7398443" y="1120676"/>
            <a:ext cx="4469790" cy="35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E49195-69A7-4E42-AADE-02896EAAF3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34" t="6766" r="35775" b="6403"/>
          <a:stretch/>
        </p:blipFill>
        <p:spPr bwMode="auto">
          <a:xfrm flipH="1">
            <a:off x="7333232" y="4343702"/>
            <a:ext cx="720787" cy="225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D68804E-79A1-4786-A86D-3676BBEB0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0" t="12038" r="35201" b="11578"/>
          <a:stretch/>
        </p:blipFill>
        <p:spPr bwMode="auto">
          <a:xfrm rot="16840304">
            <a:off x="9599505" y="3794724"/>
            <a:ext cx="1075978" cy="341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09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387804" y="45592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2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Franciel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15613" y="1203174"/>
            <a:ext cx="7841797" cy="4961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3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Processo de Pintura</a:t>
            </a:r>
          </a:p>
          <a:p>
            <a:pPr algn="ctr">
              <a:lnSpc>
                <a:spcPct val="130000"/>
              </a:lnSpc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Lixamento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Limpeza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Aplicação do Primer a base de poliéster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Pintura na cor de fundo Azul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Fabricar moldes em papelão para as ferramentas.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Pintura na cor de destaque laranja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Aplicar verniz para proteção da pintura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Secagem e cura.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04B3D48-DA83-4E26-A8B4-1AE85A2474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t="9574" r="12063" b="14935"/>
          <a:stretch/>
        </p:blipFill>
        <p:spPr>
          <a:xfrm>
            <a:off x="6810847" y="1313789"/>
            <a:ext cx="4437220" cy="261139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A427265-3892-45EF-A382-1729909461C8}"/>
              </a:ext>
            </a:extLst>
          </p:cNvPr>
          <p:cNvSpPr txBox="1"/>
          <p:nvPr/>
        </p:nvSpPr>
        <p:spPr>
          <a:xfrm>
            <a:off x="1608667" y="125347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XPTO2: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Adaptações no painel e processo de pintura</a:t>
            </a:r>
          </a:p>
        </p:txBody>
      </p:sp>
    </p:spTree>
    <p:extLst>
      <p:ext uri="{BB962C8B-B14F-4D97-AF65-F5344CB8AC3E}">
        <p14:creationId xmlns:p14="http://schemas.microsoft.com/office/powerpoint/2010/main" val="24456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3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Gustavo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3839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XPTO3: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Sistema de controle de acesso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587332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Dispositivo para controle de </a:t>
            </a:r>
            <a:r>
              <a:rPr lang="pt-BR" sz="2800" b="1" i="1" dirty="0">
                <a:latin typeface="Arial"/>
                <a:cs typeface="Arial"/>
              </a:rPr>
              <a:t>acesso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87804" y="1328030"/>
            <a:ext cx="6750933" cy="4744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Controle de ferramental visual.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Portas de acrílico sobrepostas, moldura em metal.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Fechadura Intelbras MFR4000.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Hub Intelbras MCA1002.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Câmera de monitoramento IM7.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Sensores de abertura.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Controle de acesso eletrônico via aplicativo.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Identifica quem abriu e quando.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4 Pilhas AA para 10 meses.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D3C33E20-2328-4713-9B93-669BB9FE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349" y="3710637"/>
            <a:ext cx="1140148" cy="24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1FA777C0-2F32-483D-968D-967FB76C1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7" t="34558" r="34086" b="31232"/>
          <a:stretch/>
        </p:blipFill>
        <p:spPr bwMode="auto">
          <a:xfrm>
            <a:off x="6222334" y="3883286"/>
            <a:ext cx="2102060" cy="222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203F48A1-9D11-4F03-8EE3-D2BD9EE4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8934" y="1317805"/>
            <a:ext cx="1819680" cy="192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863E20C-08AE-4530-9630-E58D0F1E6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452" y="3762972"/>
            <a:ext cx="1539744" cy="234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B5B9F4-5864-42AD-9A39-A8B69D082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537" y="1435530"/>
            <a:ext cx="1427747" cy="185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3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Gustavo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3839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XPTO3: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Sistema de controle de acesso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545723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Aplicativo</a:t>
            </a:r>
            <a:endParaRPr lang="pt-BR" sz="2800" b="1" i="1" dirty="0">
              <a:latin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14D9A2-7533-4835-99F9-2B7F3A66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0" y="545723"/>
            <a:ext cx="2276941" cy="464267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6392E9D-C1B5-4C84-A072-4067BE91FD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42" t="9524" r="9408" b="7421"/>
          <a:stretch/>
        </p:blipFill>
        <p:spPr>
          <a:xfrm>
            <a:off x="2414294" y="587620"/>
            <a:ext cx="1294170" cy="151949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0039962-29DA-440A-ABF9-20C202AE0D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109" t="9743" r="21317" b="15678"/>
          <a:stretch/>
        </p:blipFill>
        <p:spPr>
          <a:xfrm>
            <a:off x="2414294" y="2149011"/>
            <a:ext cx="1199487" cy="162214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4D9993E-1DCB-426F-9210-F93AADE12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056" y="1097653"/>
            <a:ext cx="2752650" cy="233975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DD8D01B-2068-49B8-89E0-806ADFB21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6915" y="4571495"/>
            <a:ext cx="3277057" cy="188621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64606A5-11B6-421A-9415-E0D9DC3EC4A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851" b="21705"/>
          <a:stretch/>
        </p:blipFill>
        <p:spPr>
          <a:xfrm>
            <a:off x="6476643" y="3057654"/>
            <a:ext cx="2386580" cy="288330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D727027-5C1F-4728-81FA-9F2C457FA9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64" y="979134"/>
            <a:ext cx="2259281" cy="43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64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1310-179C-9CAE-9526-095C1885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792EA8EC-6E8E-574D-4B31-A17C45AF5A45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7FF9C-01EF-9D7D-5CF9-D637F93321FC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Gabriel Donizetti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63ACC79-9933-41AA-B3B6-3A2F6B6C790F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4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038A29-1666-4EDC-B4B1-36DA1DB0D694}"/>
              </a:ext>
            </a:extLst>
          </p:cNvPr>
          <p:cNvSpPr txBox="1"/>
          <p:nvPr/>
        </p:nvSpPr>
        <p:spPr>
          <a:xfrm>
            <a:off x="387802" y="617016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Custos</a:t>
            </a:r>
            <a:endParaRPr lang="pt-BR" sz="2400" b="1" dirty="0">
              <a:latin typeface="Arial"/>
              <a:cs typeface="Arial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8B998F-9E87-4993-9A38-F341B8B67E02}"/>
              </a:ext>
            </a:extLst>
          </p:cNvPr>
          <p:cNvSpPr txBox="1"/>
          <p:nvPr/>
        </p:nvSpPr>
        <p:spPr>
          <a:xfrm>
            <a:off x="1604467" y="13547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XPTO4: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Plano de execução e levantamento de custos do projeto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B6B6F53-2793-414E-8B95-52D45CFE3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943000"/>
              </p:ext>
            </p:extLst>
          </p:nvPr>
        </p:nvGraphicFramePr>
        <p:xfrm>
          <a:off x="2612020" y="1283219"/>
          <a:ext cx="6967955" cy="5296554"/>
        </p:xfrm>
        <a:graphic>
          <a:graphicData uri="http://schemas.openxmlformats.org/drawingml/2006/table">
            <a:tbl>
              <a:tblPr/>
              <a:tblGrid>
                <a:gridCol w="5059646">
                  <a:extLst>
                    <a:ext uri="{9D8B030D-6E8A-4147-A177-3AD203B41FA5}">
                      <a16:colId xmlns:a16="http://schemas.microsoft.com/office/drawing/2014/main" val="3520633118"/>
                    </a:ext>
                  </a:extLst>
                </a:gridCol>
                <a:gridCol w="1908309">
                  <a:extLst>
                    <a:ext uri="{9D8B030D-6E8A-4147-A177-3AD203B41FA5}">
                      <a16:colId xmlns:a16="http://schemas.microsoft.com/office/drawing/2014/main" val="199245808"/>
                    </a:ext>
                  </a:extLst>
                </a:gridCol>
              </a:tblGrid>
              <a:tr h="40199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Custo do painel de ferramentas</a:t>
                      </a:r>
                    </a:p>
                  </a:txBody>
                  <a:tcPr marL="167790" marR="167790" marT="83895" marB="838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759208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Estrutura do painel em aço + pintura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1.200,00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22015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Acrílico para as portas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150,00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78293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Fechadura eletrônica Intelbras MFR4000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1.350,00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33241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Hub Intelbras MCA1002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794326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Câmera de monitoramento Intelbras IM7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400,00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528948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Iluminação e elétrica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037715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Materiais para fixação e instalação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6059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Kit para porta de correr sobrepostas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140,00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760772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Puxadores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   40,00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529663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Fechadura Cremona + haste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   90,00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64790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Sensor magnético Intelbras MSA1001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19197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Total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4.270,00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686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20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952357"/>
            <a:ext cx="11416392" cy="52578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Cliente: Aernnova – Fábio Elizeu</a:t>
            </a:r>
          </a:p>
          <a:p>
            <a:pPr algn="ctr">
              <a:lnSpc>
                <a:spcPct val="150000"/>
              </a:lnSpc>
            </a:pPr>
            <a:endParaRPr lang="pt-BR" sz="2200" b="1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Muito Obrigado!!!</a:t>
            </a:r>
            <a:endParaRPr lang="pt-BR" sz="22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/>
                <a:cs typeface="Arial"/>
              </a:rPr>
              <a:t>Equipe: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Franciel Izidoro da Costa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Gabriel Donizetti Jesus Campos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Gustavo Evangelista Rodrigues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Raphael Nunes Silva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Robson Rodolfo Azevedo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Tainan de Souza Ferreira dos Santos</a:t>
            </a:r>
            <a:endParaRPr lang="pt-BR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13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db99b96-edc9-4a32-93e9-1dbc100bef9b" xsi:nil="true"/>
    <lcf76f155ced4ddcb4097134ff3c332f xmlns="ddb99b96-edc9-4a32-93e9-1dbc100bef9b">
      <Terms xmlns="http://schemas.microsoft.com/office/infopath/2007/PartnerControls"/>
    </lcf76f155ced4ddcb4097134ff3c332f>
    <TaxCatchAll xmlns="a48d182f-17e0-42b6-9936-b02c58680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80247ADB237764AAB47CDA073F4913D" ma:contentTypeVersion="13" ma:contentTypeDescription="Crie um novo documento." ma:contentTypeScope="" ma:versionID="fa5cb0b59d9ac62210beb6751a368d5e">
  <xsd:schema xmlns:xsd="http://www.w3.org/2001/XMLSchema" xmlns:xs="http://www.w3.org/2001/XMLSchema" xmlns:p="http://schemas.microsoft.com/office/2006/metadata/properties" xmlns:ns2="ddb99b96-edc9-4a32-93e9-1dbc100bef9b" xmlns:ns3="a48d182f-17e0-42b6-9936-b02c58680161" targetNamespace="http://schemas.microsoft.com/office/2006/metadata/properties" ma:root="true" ma:fieldsID="6c0e612be8dcce56c5937ffe0286f045" ns2:_="" ns3:_="">
    <xsd:import namespace="ddb99b96-edc9-4a32-93e9-1dbc100bef9b"/>
    <xsd:import namespace="a48d182f-17e0-42b6-9936-b02c5868016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b99b96-edc9-4a32-93e9-1dbc100bef9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d182f-17e0-42b6-9936-b02c5868016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345afb-524c-4dfc-8f67-61bf223aee2a}" ma:internalName="TaxCatchAll" ma:showField="CatchAllData" ma:web="a48d182f-17e0-42b6-9936-b02c58680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4E09FE-0A61-43E9-8CA5-60AFDF67D7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8665074-1504-46F9-A792-7908886A1B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CA6718-8CA7-4948-86E5-4030F890131E}"/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904</Words>
  <Application>Microsoft Office PowerPoint</Application>
  <PresentationFormat>Widescreen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Arial,Sans-Serif</vt:lpstr>
      <vt:lpstr>Nunito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ELIAS PEREIRA</dc:creator>
  <cp:lastModifiedBy>Gustavo</cp:lastModifiedBy>
  <cp:revision>593</cp:revision>
  <dcterms:created xsi:type="dcterms:W3CDTF">2025-03-11T00:08:10Z</dcterms:created>
  <dcterms:modified xsi:type="dcterms:W3CDTF">2025-11-18T19:43:14Z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0x010100380247ADB237764AAB47CDA073F4913D</vt:lpwstr>
  </property>
</Properties>
</file>